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32bc78b06444ad" /><Relationship Type="http://schemas.openxmlformats.org/officeDocument/2006/relationships/extended-properties" Target="/docProps/app.xml" Id="R036f310d635849fc" /><Relationship Type="http://schemas.openxmlformats.org/officeDocument/2006/relationships/officeDocument" Target="/ppt/presentation.xml" Id="Rf667ea56960b42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01c51cfcc7467d"/>
  </p:sldMasterIdLst>
  <p:notesMasterIdLst>
    <p:notesMasterId xmlns:r="http://schemas.openxmlformats.org/officeDocument/2006/relationships" r:id="R431c9a071842469c"/>
  </p:notesMasterIdLst>
  <p:sldIdLst>
    <p:sldId xmlns:r="http://schemas.openxmlformats.org/officeDocument/2006/relationships" id="256" r:id="Re428a025e39d45d1"/>
    <p:sldId xmlns:r="http://schemas.openxmlformats.org/officeDocument/2006/relationships" id="257" r:id="Red69106f8fed4d3a"/>
    <p:sldId xmlns:r="http://schemas.openxmlformats.org/officeDocument/2006/relationships" id="258" r:id="Rcf0d24cfcd254c88"/>
    <p:sldId xmlns:r="http://schemas.openxmlformats.org/officeDocument/2006/relationships" id="259" r:id="R2588bc35d5564848"/>
    <p:sldId xmlns:r="http://schemas.openxmlformats.org/officeDocument/2006/relationships" id="260" r:id="Ra3ce4f6d435847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fd893529b4161" /><Relationship Type="http://schemas.openxmlformats.org/officeDocument/2006/relationships/slideMaster" Target="/ppt/slideMasters/slideMaster1.xml" Id="R6601c51cfcc7467d" /><Relationship Type="http://schemas.openxmlformats.org/officeDocument/2006/relationships/notesMaster" Target="/ppt/notesMasters/notesMaster1.xml" Id="R431c9a071842469c" /><Relationship Type="http://schemas.openxmlformats.org/officeDocument/2006/relationships/presProps" Target="/ppt/presProps.xml" Id="R09cf6c8c94004235" /><Relationship Type="http://schemas.openxmlformats.org/officeDocument/2006/relationships/viewProps" Target="/ppt/viewProps.xml" Id="Ra26e440ab41f4a68" /><Relationship Type="http://schemas.openxmlformats.org/officeDocument/2006/relationships/tableStyles" Target="/ppt/tableStyles.xml" Id="Rd2199dea570e4382" /><Relationship Type="http://schemas.openxmlformats.org/officeDocument/2006/relationships/slide" Target="/ppt/slides/slide1.xml" Id="Re428a025e39d45d1" /><Relationship Type="http://schemas.openxmlformats.org/officeDocument/2006/relationships/slide" Target="/ppt/slides/slide2.xml" Id="Red69106f8fed4d3a" /><Relationship Type="http://schemas.openxmlformats.org/officeDocument/2006/relationships/slide" Target="/ppt/slides/slide3.xml" Id="Rcf0d24cfcd254c88" /><Relationship Type="http://schemas.openxmlformats.org/officeDocument/2006/relationships/slide" Target="/ppt/slides/slide4.xml" Id="R2588bc35d5564848" /><Relationship Type="http://schemas.openxmlformats.org/officeDocument/2006/relationships/slide" Target="/ppt/slides/slide5.xml" Id="Ra3ce4f6d435847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8a6f5ccc9a4e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3e58d4748842a9" /><Relationship Type="http://schemas.openxmlformats.org/officeDocument/2006/relationships/notesMaster" Target="/ppt/notesMasters/notesMaster1.xml" Id="Ra73b484238554a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6dcc9c687c4be9" /><Relationship Type="http://schemas.openxmlformats.org/officeDocument/2006/relationships/notesMaster" Target="/ppt/notesMasters/notesMaster1.xml" Id="R35e1f83bf65040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779d497da543fc" /><Relationship Type="http://schemas.openxmlformats.org/officeDocument/2006/relationships/notesMaster" Target="/ppt/notesMasters/notesMaster1.xml" Id="Rf662ef7c55fc46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c550286a984b10" /><Relationship Type="http://schemas.openxmlformats.org/officeDocument/2006/relationships/notesMaster" Target="/ppt/notesMasters/notesMaster1.xml" Id="R5b4e1fc0e38649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15192dff544f8c" /><Relationship Type="http://schemas.openxmlformats.org/officeDocument/2006/relationships/notesMaster" Target="/ppt/notesMasters/notesMaster1.xml" Id="R1fcee4ebb36946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469e4d2a54a3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41f55c5b404141" /><Relationship Type="http://schemas.openxmlformats.org/officeDocument/2006/relationships/slideLayout" Target="/ppt/slideLayouts/slideLayout1.xml" Id="R7e07cac5308842e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07cac5308842e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4280d7e8b4c78" /><Relationship Type="http://schemas.openxmlformats.org/officeDocument/2006/relationships/notesSlide" Target="/ppt/notesSlides/notesSlide1.xml" Id="R1277677e6ed34c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a6abfd124acf" /><Relationship Type="http://schemas.openxmlformats.org/officeDocument/2006/relationships/notesSlide" Target="/ppt/notesSlides/notesSlide2.xml" Id="R42f3d84d716341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38bab6099436c" /><Relationship Type="http://schemas.openxmlformats.org/officeDocument/2006/relationships/notesSlide" Target="/ppt/notesSlides/notesSlide3.xml" Id="Rf221d7d0ff46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fd5b6578d4679" /><Relationship Type="http://schemas.openxmlformats.org/officeDocument/2006/relationships/notesSlide" Target="/ppt/notesSlides/notesSlide4.xml" Id="R03127820107747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85513cfac4f08" /><Relationship Type="http://schemas.openxmlformats.org/officeDocument/2006/relationships/notesSlide" Target="/ppt/notesSlides/notesSlide5.xml" Id="R828b11480a804e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A29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CF744E2-6E41-4ECA-B44F-A69A4B86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5609F5-F331-47D6-BB8C-2CCB8C79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75" b="1" i="0">
                <a:solidFill>
                  <a:srgbClr val="E9D8D3"/>
                </a:solidFill>
              </a:rPr>
              <a:t>ALDER RIDGE MECHANICAL</a:t>
            </a:r>
            <a:endParaRPr sz="1275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BF438D-2B10-4153-B139-D9E8725B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857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750" b="1" i="0">
                <a:solidFill>
                  <a:srgbClr val="FFFFFF"/>
                </a:solidFill>
              </a:rPr>
              <a:t>June Flash — CFO Scratch</a:t>
            </a:r>
            <a:endParaRPr sz="3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B9AC77-F151-47BE-96DB-9B14B43B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781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50" b="0" i="0">
                <a:solidFill>
                  <a:srgbClr val="E9D8D3"/>
                </a:solidFill>
              </a:rPr>
              <a:t>Posted results, proposed WIP bridge and operating callouts</a:t>
            </a:r>
            <a:endParaRPr sz="16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8C8D61-AAB9-4F3D-8A55-EB296B0E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42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25" b="1" i="0">
                <a:solidFill>
                  <a:srgbClr val="E9D8D3"/>
                </a:solidFill>
              </a:rPr>
              <a:t>WORKING / PRE-WIP</a:t>
            </a:r>
            <a:endParaRPr sz="1125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46922C5-6E52-46DA-B78C-2BFB53EF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75" b="0" i="0">
                <a:solidFill>
                  <a:srgbClr val="FFFFFF"/>
                </a:solidFill>
              </a:rPr>
              <a:t>July 2, 2026</a:t>
            </a:r>
            <a:endParaRPr sz="1275"/>
          </a:p>
        </p:txBody>
      </p:sp>
    </p:spTree>
    <p:extLst>
      <p:ext uri="{BB962C8B-B14F-4D97-AF65-F5344CB8AC3E}">
        <p14:creationId xmlns:p14="http://schemas.microsoft.com/office/powerpoint/2010/main" val="47224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55EB2ED-9811-489C-84E4-07889D75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932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5B0C41-8DAF-420B-8E35-2D02C55B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5" b="1" i="0">
                <a:solidFill>
                  <a:srgbClr val="B85C38"/>
                </a:solidFill>
              </a:rPr>
              <a:t>JUNE 2026 FLASH REVIEW</a:t>
            </a:r>
            <a:endParaRPr sz="975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BD95C2-C6B7-4C15-AEA3-263D7E79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75" b="1" i="0">
                <a:solidFill>
                  <a:srgbClr val="3A2932"/>
                </a:solidFill>
              </a:rPr>
              <a:t>Close status and source hierarchy</a:t>
            </a:r>
            <a:endParaRPr sz="2475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02F2DE-BBDE-40D5-8969-757FE002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9C6AF3-1684-4FB6-B0AF-08A97173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Accounting system controls posted actuals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Board-approved FINAL2 controls plan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Proposed WIP shown separately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No deck number overrides the workbook</a:t>
            </a:r>
            <a:endParaRPr sz="1425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48CB7FE-9520-4A95-AFD8-6BAC9360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57350"/>
            <a:ext cx="371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6DA"/>
          </a:solidFill>
          <a:ln xmlns:a="http://schemas.openxmlformats.org/drawingml/2006/main" w="9525">
            <a:solidFill>
              <a:srgbClr val="CDB8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80F4DA-2B48-4185-AA59-50616EDE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 i="0">
                <a:solidFill>
                  <a:srgbClr val="655C55"/>
                </a:solidFill>
              </a:rPr>
              <a:t>Close status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38CCF72-BDEA-4161-8F68-A2F39429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150" b="1" i="0">
                <a:solidFill>
                  <a:srgbClr val="B85C38"/>
                </a:solidFill>
              </a:rPr>
              <a:t>Pre-WIP</a:t>
            </a:r>
            <a:endParaRPr sz="3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52C876-7ABF-4E0F-9935-97EA46E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75" b="0" i="0">
                <a:solidFill>
                  <a:srgbClr val="222222"/>
                </a:solidFill>
              </a:rPr>
              <a:t>The flash remains a working view until the Controller approves the WIP entry.</a:t>
            </a:r>
            <a:endParaRPr sz="1275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E12ABE9-6DF2-4B61-B163-5FE57B29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66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0" i="0">
                <a:solidFill>
                  <a:srgbClr val="655C55"/>
                </a:solidFill>
              </a:rPr>
              <a:t>July 2, 2026 | WORKING / PRE-WIP | 2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101803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2E653B8-1874-4173-BB71-BB3FD5DB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932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61AC62-C2A6-443D-B606-E01935C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5" b="1" i="0">
                <a:solidFill>
                  <a:srgbClr val="B85C38"/>
                </a:solidFill>
              </a:rPr>
              <a:t>JUNE 2026 FLASH REVIEW</a:t>
            </a:r>
            <a:endParaRPr sz="975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C0683C-66DE-4779-B503-3A8F6113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75" b="1" i="0">
                <a:solidFill>
                  <a:srgbClr val="3A2932"/>
                </a:solidFill>
              </a:rPr>
              <a:t>Posted June results</a:t>
            </a:r>
            <a:endParaRPr sz="2475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3E66B10-3386-47FF-8981-B29E3871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7FC24E-CC15-47AB-B3CC-0365D5C4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Revenue and cost from accounting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Operating expense from posted GL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No proposed WIP in posted column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Plan comparison still open</a:t>
            </a:r>
            <a:endParaRPr sz="1425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BF19F57-52FC-4ECD-940E-F05497B0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57350"/>
            <a:ext cx="371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6DA"/>
          </a:solidFill>
          <a:ln xmlns:a="http://schemas.openxmlformats.org/drawingml/2006/main" w="9525">
            <a:solidFill>
              <a:srgbClr val="CDB8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BCCD448-B7F0-4A06-BB27-697735F6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 i="0">
                <a:solidFill>
                  <a:srgbClr val="655C55"/>
                </a:solidFill>
              </a:rPr>
              <a:t>Posted revenue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F9F94CB-51EE-445C-B6D6-CE29D7D3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150" b="1" i="0">
                <a:solidFill>
                  <a:srgbClr val="B85C38"/>
                </a:solidFill>
              </a:rPr>
              <a:t>$3.6m</a:t>
            </a:r>
            <a:endParaRPr sz="3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B4B747A-7A75-41F8-8C61-EDA9B294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75" b="0" i="0">
                <a:solidFill>
                  <a:srgbClr val="222222"/>
                </a:solidFill>
              </a:rPr>
              <a:t>This is posted revenue before the proposed percentage-of-completion entry.</a:t>
            </a:r>
            <a:endParaRPr sz="1275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BDA3F75-22DB-434A-84F6-310290E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66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0" i="0">
                <a:solidFill>
                  <a:srgbClr val="655C55"/>
                </a:solidFill>
              </a:rPr>
              <a:t>July 2, 2026 | WORKING / PRE-WIP | 3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5131000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8B58085-11E2-4AF8-9781-B9694B93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932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83EA69-B575-4FBC-AB97-B0F14FEF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5" b="1" i="0">
                <a:solidFill>
                  <a:srgbClr val="B85C38"/>
                </a:solidFill>
              </a:rPr>
              <a:t>JUNE 2026 FLASH REVIEW</a:t>
            </a:r>
            <a:endParaRPr sz="975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8D7862-A7EA-40A2-AD37-878A9714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75" b="1" i="0">
                <a:solidFill>
                  <a:srgbClr val="3A2932"/>
                </a:solidFill>
              </a:rPr>
              <a:t>Project estimate callouts</a:t>
            </a:r>
            <a:endParaRPr sz="2475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A897038-47FB-4770-9DB8-013BFC67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8DE16CA-9F43-4D1F-B324-D1E4CC22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Northline disputed recovery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Cascade night-shift exposure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Eastbank electrical redesign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Columbia validation closeout</a:t>
            </a:r>
            <a:endParaRPr sz="1425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B8C8355-F842-423D-A80E-A920134C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57350"/>
            <a:ext cx="371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6DA"/>
          </a:solidFill>
          <a:ln xmlns:a="http://schemas.openxmlformats.org/drawingml/2006/main" w="9525">
            <a:solidFill>
              <a:srgbClr val="CDB8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C0847E1-FE39-496A-8895-3C0F332E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 i="0">
                <a:solidFill>
                  <a:srgbClr val="655C55"/>
                </a:solidFill>
              </a:rPr>
              <a:t>Risk cases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1DD2059-F439-47F5-A270-039CFEBE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150" b="1" i="0">
                <a:solidFill>
                  <a:srgbClr val="B85C38"/>
                </a:solidFill>
              </a:rPr>
              <a:t>4</a:t>
            </a:r>
            <a:endParaRPr sz="3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7030FFD-E79D-4627-A46A-626F383D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75" b="0" i="0">
                <a:solidFill>
                  <a:srgbClr val="222222"/>
                </a:solidFill>
              </a:rPr>
              <a:t>Reconcile current PM assumptions, dated commercial evidence and the signed WIP policy in the close workpaper.</a:t>
            </a:r>
            <a:endParaRPr sz="1275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37CA094-EFB0-4A00-ADBD-5E06C7B8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66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0" i="0">
                <a:solidFill>
                  <a:srgbClr val="655C55"/>
                </a:solidFill>
              </a:rPr>
              <a:t>July 2, 2026 | WORKING / PRE-WIP | 4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050674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9853A15-ECA4-4B86-8492-5EE82348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932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D27F96-8D89-4AD5-B005-802C6C34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5" b="1" i="0">
                <a:solidFill>
                  <a:srgbClr val="B85C38"/>
                </a:solidFill>
              </a:rPr>
              <a:t>JUNE 2026 FLASH REVIEW</a:t>
            </a:r>
            <a:endParaRPr sz="975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03097E-46D1-4770-A61D-0585EF6C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75" b="1" i="0">
                <a:solidFill>
                  <a:srgbClr val="3A2932"/>
                </a:solidFill>
              </a:rPr>
              <a:t>Working decisions</a:t>
            </a:r>
            <a:endParaRPr sz="2475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9B46668-9C9D-41BF-BB12-B9C1572F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37EC9E-AA3E-484D-9CC6-490DA277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Approve or revise WIP entry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Confirm flash bridge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Separate posted and pro-forma labels</a:t>
            </a:r>
            <a:endParaRPr sz="1425"/>
          </a:p>
          <a:p xmlns:a="http://schemas.openxmlformats.org/drawingml/2006/main">
            <a:pPr marL="0" indent="0" algn="l">
              <a:buNone/>
            </a:pPr>
            <a:endParaRPr sz="1425"/>
          </a:p>
          <a:p xmlns:a="http://schemas.openxmlformats.org/drawingml/2006/main">
            <a:pPr marL="0" indent="0" algn="l">
              <a:buNone/>
            </a:pPr>
            <a:r>
              <a:rPr sz="1425" b="0" i="0">
                <a:solidFill>
                  <a:srgbClr val="222222"/>
                </a:solidFill>
              </a:rPr>
              <a:t>• Carry source notes into operating review</a:t>
            </a:r>
            <a:endParaRPr sz="1425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78D95DE-2620-42C9-8B15-E3677033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57350"/>
            <a:ext cx="371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6DA"/>
          </a:solidFill>
          <a:ln xmlns:a="http://schemas.openxmlformats.org/drawingml/2006/main" w="9525">
            <a:solidFill>
              <a:srgbClr val="CDB8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74EE40-0424-4477-938F-212088D5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 i="0">
                <a:solidFill>
                  <a:srgbClr val="655C55"/>
                </a:solidFill>
              </a:rPr>
              <a:t>Decision owner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F1788A5-D568-46EC-ABD3-B9F9650E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150" b="1" i="0">
                <a:solidFill>
                  <a:srgbClr val="B85C38"/>
                </a:solidFill>
              </a:rPr>
              <a:t>CFO</a:t>
            </a:r>
            <a:endParaRPr sz="3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BE677D7-120A-4555-9A31-8D2ADAF3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75" b="0" i="0">
                <a:solidFill>
                  <a:srgbClr val="222222"/>
                </a:solidFill>
              </a:rPr>
              <a:t>The bridge workbook—not this scratch deck—is the calculation source.</a:t>
            </a:r>
            <a:endParaRPr sz="1275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235D728-84B4-4AE3-91FE-F77F4FD0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66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0" i="0">
                <a:solidFill>
                  <a:srgbClr val="655C55"/>
                </a:solidFill>
              </a:rPr>
              <a:t>July 2, 2026 | WORKING / PRE-WIP | 5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63732788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2026-09-02T20:15:24.4520000Z</dcterms:created>
  <dcterms:modified xsi:type="dcterms:W3CDTF">2026-09-02T20:15:24.4520000Z</dcterms:modified>
</coreProperties>
</file>