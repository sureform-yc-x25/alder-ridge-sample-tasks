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74df9c99445c5" /><Relationship Type="http://schemas.openxmlformats.org/officeDocument/2006/relationships/extended-properties" Target="/docProps/app.xml" Id="Rd810780dbea14179" /><Relationship Type="http://schemas.openxmlformats.org/officeDocument/2006/relationships/officeDocument" Target="/ppt/presentation.xml" Id="R424fc5ce18c1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8bf8a48304da9"/>
  </p:sldMasterIdLst>
  <p:notesMasterIdLst>
    <p:notesMasterId xmlns:r="http://schemas.openxmlformats.org/officeDocument/2006/relationships" r:id="R8656ca8d4a0f4bde"/>
  </p:notesMasterIdLst>
  <p:sldIdLst>
    <p:sldId xmlns:r="http://schemas.openxmlformats.org/officeDocument/2006/relationships" id="256" r:id="R765b1be4ea1348b1"/>
    <p:sldId xmlns:r="http://schemas.openxmlformats.org/officeDocument/2006/relationships" id="257" r:id="Rcec71e7afa6d420e"/>
    <p:sldId xmlns:r="http://schemas.openxmlformats.org/officeDocument/2006/relationships" id="258" r:id="R1c4c5907de9e45a7"/>
    <p:sldId xmlns:r="http://schemas.openxmlformats.org/officeDocument/2006/relationships" id="259" r:id="R8e979a1ac6704b5f"/>
    <p:sldId xmlns:r="http://schemas.openxmlformats.org/officeDocument/2006/relationships" id="260" r:id="R000d8c9368954d57"/>
    <p:sldId xmlns:r="http://schemas.openxmlformats.org/officeDocument/2006/relationships" id="261" r:id="Rb559ee35e976403f"/>
    <p:sldId xmlns:r="http://schemas.openxmlformats.org/officeDocument/2006/relationships" id="262" r:id="Rae2297f38f7d4585"/>
    <p:sldId xmlns:r="http://schemas.openxmlformats.org/officeDocument/2006/relationships" id="263" r:id="R391fb10c4678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f316af4bb4bda" /><Relationship Type="http://schemas.openxmlformats.org/officeDocument/2006/relationships/slideMaster" Target="/ppt/slideMasters/slideMaster1.xml" Id="R5f88bf8a48304da9" /><Relationship Type="http://schemas.openxmlformats.org/officeDocument/2006/relationships/notesMaster" Target="/ppt/notesMasters/notesMaster1.xml" Id="R8656ca8d4a0f4bde" /><Relationship Type="http://schemas.openxmlformats.org/officeDocument/2006/relationships/presProps" Target="/ppt/presProps.xml" Id="Rf0ed360b5ebd4eba" /><Relationship Type="http://schemas.openxmlformats.org/officeDocument/2006/relationships/tableStyles" Target="/ppt/tableStyles.xml" Id="R33d9a59dee1c4c8c" /><Relationship Type="http://schemas.openxmlformats.org/officeDocument/2006/relationships/slide" Target="/ppt/slides/slide1.xml" Id="R765b1be4ea1348b1" /><Relationship Type="http://schemas.openxmlformats.org/officeDocument/2006/relationships/slide" Target="/ppt/slides/slide2.xml" Id="Rcec71e7afa6d420e" /><Relationship Type="http://schemas.openxmlformats.org/officeDocument/2006/relationships/slide" Target="/ppt/slides/slide3.xml" Id="R1c4c5907de9e45a7" /><Relationship Type="http://schemas.openxmlformats.org/officeDocument/2006/relationships/slide" Target="/ppt/slides/slide4.xml" Id="R8e979a1ac6704b5f" /><Relationship Type="http://schemas.openxmlformats.org/officeDocument/2006/relationships/slide" Target="/ppt/slides/slide5.xml" Id="R000d8c9368954d57" /><Relationship Type="http://schemas.openxmlformats.org/officeDocument/2006/relationships/slide" Target="/ppt/slides/slide6.xml" Id="Rb559ee35e976403f" /><Relationship Type="http://schemas.openxmlformats.org/officeDocument/2006/relationships/slide" Target="/ppt/slides/slide7.xml" Id="Rae2297f38f7d4585" /><Relationship Type="http://schemas.openxmlformats.org/officeDocument/2006/relationships/slide" Target="/ppt/slides/slide8.xml" Id="R391fb10c4678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1a485a77e84c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e7f24bd1649da" /><Relationship Type="http://schemas.openxmlformats.org/officeDocument/2006/relationships/notesMaster" Target="/ppt/notesMasters/notesMaster1.xml" Id="Raf29d5fa06954a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5f62c3771464b" /><Relationship Type="http://schemas.openxmlformats.org/officeDocument/2006/relationships/notesMaster" Target="/ppt/notesMasters/notesMaster1.xml" Id="Rbf5894c61814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45ffe5da1d4bc8" /><Relationship Type="http://schemas.openxmlformats.org/officeDocument/2006/relationships/notesMaster" Target="/ppt/notesMasters/notesMaster1.xml" Id="Rfd2793756ba144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86e69c0bd044e0" /><Relationship Type="http://schemas.openxmlformats.org/officeDocument/2006/relationships/notesMaster" Target="/ppt/notesMasters/notesMaster1.xml" Id="R67987d5aa917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8d8be6b9174df3" /><Relationship Type="http://schemas.openxmlformats.org/officeDocument/2006/relationships/notesMaster" Target="/ppt/notesMasters/notesMaster1.xml" Id="Rc46258bfa64c46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ed5b4bdff04aed" /><Relationship Type="http://schemas.openxmlformats.org/officeDocument/2006/relationships/notesMaster" Target="/ppt/notesMasters/notesMaster1.xml" Id="R02b478d46e8848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bd628095444c0" /><Relationship Type="http://schemas.openxmlformats.org/officeDocument/2006/relationships/notesMaster" Target="/ppt/notesMasters/notesMaster1.xml" Id="R4781c23e77444b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32e56e31a44d7d" /><Relationship Type="http://schemas.openxmlformats.org/officeDocument/2006/relationships/notesMaster" Target="/ppt/notesMasters/notesMaster1.xml" Id="R12326e4bb700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environment/seed/sources/Shared/Finance/FP&amp;A/FY26 plan + reforecast/FY26 AOP approval deck_12.18.25 FINAL.pptx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8ade1f43d4f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87ce64b1e14b9a" /><Relationship Type="http://schemas.openxmlformats.org/officeDocument/2006/relationships/slideLayout" Target="/ppt/slideLayouts/slideLayout1.xml" Id="R74bebc306a9f4e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bebc306a9f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08d1681184b77" /><Relationship Type="http://schemas.openxmlformats.org/officeDocument/2006/relationships/notesSlide" Target="/ppt/notesSlides/notesSlide1.xml" Id="R4a3adffa44db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8e00b79ee45f9" /><Relationship Type="http://schemas.openxmlformats.org/officeDocument/2006/relationships/notesSlide" Target="/ppt/notesSlides/notesSlide2.xml" Id="R7eff395308ad4e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32910f6a34f93" /><Relationship Type="http://schemas.openxmlformats.org/officeDocument/2006/relationships/notesSlide" Target="/ppt/notesSlides/notesSlide3.xml" Id="Reb3c31e12f5844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324e5dd914d84" /><Relationship Type="http://schemas.openxmlformats.org/officeDocument/2006/relationships/notesSlide" Target="/ppt/notesSlides/notesSlide4.xml" Id="Rd854a4d0719b46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7b3eb2cc84621" /><Relationship Type="http://schemas.openxmlformats.org/officeDocument/2006/relationships/notesSlide" Target="/ppt/notesSlides/notesSlide5.xml" Id="R4537c322702d48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b875b851e402a" /><Relationship Type="http://schemas.openxmlformats.org/officeDocument/2006/relationships/notesSlide" Target="/ppt/notesSlides/notesSlide6.xml" Id="R68656732b72c40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3aea6bb574987" /><Relationship Type="http://schemas.openxmlformats.org/officeDocument/2006/relationships/notesSlide" Target="/ppt/notesSlides/notesSlide7.xml" Id="Rbe034a5c93974e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0a442e237435c" /><Relationship Type="http://schemas.openxmlformats.org/officeDocument/2006/relationships/notesSlide" Target="/ppt/notesSlides/notesSlide8.xml" Id="Raf3959f7dc5846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any">
            <a:extLst xmlns:a="http://schemas.openxmlformats.org/drawingml/2006/main">
              <a:ext uri="{FF2B5EF4-FFF2-40B4-BE49-F238E27FC236}">
                <a16:creationId xmlns:a16="http://schemas.microsoft.com/office/drawing/2014/main" id="{5B155D65-F0EA-4109-9E1E-AFB3C96B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33"/>
                </a:solidFill>
              </a:defRPr>
            </a:pPr>
            <a:r>
              <a:rPr sz="1050" b="1">
                <a:solidFill>
                  <a:srgbClr val="173B33"/>
                </a:solidFill>
              </a:rPr>
              <a:t>ALDER RIDGE MECHANICAL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39F19A0C-58B4-414B-B573-ED18787E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72-92">
            <a:extLst xmlns:a="http://schemas.openxmlformats.org/drawingml/2006/main">
              <a:ext uri="{FF2B5EF4-FFF2-40B4-BE49-F238E27FC236}">
                <a16:creationId xmlns:a16="http://schemas.microsoft.com/office/drawing/2014/main" id="{0B271629-B855-4CF0-88B0-2BB110C0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D96B46-0FF7-40B7-B29E-172124EA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B33"/>
                </a:solidFill>
              </a:defRPr>
            </a:pPr>
            <a:r>
              <a:rPr sz="405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B9BAE8-F0F5-4A29-B176-3EC70F2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725"/>
                </a:solidFill>
              </a:defRPr>
            </a:pPr>
            <a:r>
              <a:rPr sz="1800" b="0">
                <a:solidFill>
                  <a:srgbClr val="252725"/>
                </a:solidFill>
              </a:rPr>
              <a:t>Board-approved operating, hiring, capital and liquidity plan</a:t>
            </a:r>
          </a:p>
        </p:txBody>
      </p:sp>
      <p:sp>
        <p:nvSpPr>
          <p:cNvPr id="6" name="rule-72-486">
            <a:extLst xmlns:a="http://schemas.openxmlformats.org/drawingml/2006/main">
              <a:ext uri="{FF2B5EF4-FFF2-40B4-BE49-F238E27FC236}">
                <a16:creationId xmlns:a16="http://schemas.microsoft.com/office/drawing/2014/main" id="{52BFACAC-7B64-4F26-813E-185BF622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0B5C716A-FD24-4F69-8E4B-5E41A22B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December 18, 2025</a:t>
            </a:r>
          </a:p>
        </p:txBody>
      </p:sp>
    </p:spTree>
    <p:extLst>
      <p:ext uri="{BB962C8B-B14F-4D97-AF65-F5344CB8AC3E}">
        <p14:creationId xmlns:p14="http://schemas.microsoft.com/office/powerpoint/2010/main" val="552273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7F934F4E-8E0E-49E4-A05A-CAFB4523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FE4CA95C-FCF5-418C-BCDD-F9C8AE4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3845C917-74CD-4CAA-AAFA-861E66BA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0BE9D53C-11D7-42CF-9B22-470706DD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A94E3668-B2FC-4B15-ADED-67E7E0B3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December 18, 2025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B18CE4-E754-4DD2-9D24-9CB185AA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164BBBC-FAF5-4D40-BC84-D6A5554E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Planning thesis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C6EC75FD-BE77-4352-A289-B5962993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5EF32CAF-BF9A-48CE-AFD6-866EA278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Protect project selection discipline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1F0197A7-2ED5-41C8-A24B-4C6A47B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E2DFC543-1565-4F5D-9480-62B2B846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425FF0A5-DD6B-432B-8F8F-9399291F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Expand service agreement base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16B02146-7282-4010-89B6-3771FE9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03DD798C-0247-437A-8918-1FA6111D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947C4AFC-166A-4EB6-AA94-D2622779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Fund controls capability selectively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F891D52E-D71B-44D0-A111-F003C3BB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CEFD553D-0EF0-497A-A7B3-59527C6D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6CFBBCC0-0C53-4EBD-8796-7D55CD06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Maintain minimum liquidity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E2929C4-F2FC-4428-BAAA-BB70FBC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FY26 REVENUE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64E3F9E-4293-4481-B6DC-9649109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$47.9m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898641BF-5F44-4019-A763-5080D891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FC07D2A4-C6A9-4383-BBA0-353D5BC2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Base plan excludes unsigned awards and unsupported commercial recoveries.</a:t>
            </a:r>
          </a:p>
        </p:txBody>
      </p:sp>
    </p:spTree>
    <p:extLst>
      <p:ext uri="{BB962C8B-B14F-4D97-AF65-F5344CB8AC3E}">
        <p14:creationId xmlns:p14="http://schemas.microsoft.com/office/powerpoint/2010/main" val="1605611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C22580D6-A5B8-4C68-A20C-B123E5F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2357A418-32F8-4531-816B-F1960553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35104E8C-ED41-4501-A3B7-E95317A1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D051FC4C-B7D2-43F1-84C2-78EFEA3D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E72ECF1B-673E-412F-9FF7-C21E3432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December 18, 2025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44ECAC0-B501-45B4-9DE3-565B604E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08BBE49-9E6C-4FB5-BB2B-8C60838C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Revenue and gross profit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CE56921-477B-4CC1-A131-BD0B415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GROSS MARGIN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B984EC3-6DD6-4AAE-8707-98E59F7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33"/>
                </a:solidFill>
              </a:defRPr>
            </a:pPr>
            <a:r>
              <a:rPr sz="4350" b="1">
                <a:solidFill>
                  <a:srgbClr val="173B33"/>
                </a:solidFill>
              </a:rPr>
              <a:t>24.8%</a:t>
            </a:r>
          </a:p>
        </p:txBody>
      </p:sp>
      <p:sp>
        <p:nvSpPr>
          <p:cNvPr id="10" name="rule-68-310">
            <a:extLst xmlns:a="http://schemas.openxmlformats.org/drawingml/2006/main">
              <a:ext uri="{FF2B5EF4-FFF2-40B4-BE49-F238E27FC236}">
                <a16:creationId xmlns:a16="http://schemas.microsoft.com/office/drawing/2014/main" id="{58A19D69-2DD4-4F6A-B9F5-B0781A31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76C1CF36-9080-4735-9B0F-C0FA02D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Margin improvement depends on closeout discipline and field productivity.</a:t>
            </a:r>
          </a:p>
        </p:txBody>
      </p:sp>
      <p:sp>
        <p:nvSpPr>
          <p:cNvPr id="12" name="num-0">
            <a:extLst xmlns:a="http://schemas.openxmlformats.org/drawingml/2006/main">
              <a:ext uri="{FF2B5EF4-FFF2-40B4-BE49-F238E27FC236}">
                <a16:creationId xmlns:a16="http://schemas.microsoft.com/office/drawing/2014/main" id="{64185514-409B-4A00-B0CB-659FD83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88941176-4077-49A8-A683-AA35C42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Construction backlog conversion</a:t>
            </a:r>
          </a:p>
        </p:txBody>
      </p:sp>
      <p:sp>
        <p:nvSpPr>
          <p:cNvPr id="14" name="rule-558-230">
            <a:extLst xmlns:a="http://schemas.openxmlformats.org/drawingml/2006/main">
              <a:ext uri="{FF2B5EF4-FFF2-40B4-BE49-F238E27FC236}">
                <a16:creationId xmlns:a16="http://schemas.microsoft.com/office/drawing/2014/main" id="{D1301989-70A3-428F-9173-4A73ACEE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5" name="num-1">
            <a:extLst xmlns:a="http://schemas.openxmlformats.org/drawingml/2006/main">
              <a:ext uri="{FF2B5EF4-FFF2-40B4-BE49-F238E27FC236}">
                <a16:creationId xmlns:a16="http://schemas.microsoft.com/office/drawing/2014/main" id="{EDA0C921-898B-45D7-9B99-A7FD98BB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7BCC5B6F-9057-45E3-9D83-7C3FA73C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Service agreement growth</a:t>
            </a:r>
          </a:p>
        </p:txBody>
      </p:sp>
      <p:sp>
        <p:nvSpPr>
          <p:cNvPr id="17" name="rule-558-312">
            <a:extLst xmlns:a="http://schemas.openxmlformats.org/drawingml/2006/main">
              <a:ext uri="{FF2B5EF4-FFF2-40B4-BE49-F238E27FC236}">
                <a16:creationId xmlns:a16="http://schemas.microsoft.com/office/drawing/2014/main" id="{5D8B3812-C6DA-4D80-B243-CE7A615A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46D6B5D5-40CC-4409-89E8-328ECBB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95AF8EF7-7236-4601-B828-5E9D5008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Controls project pipeline</a:t>
            </a:r>
          </a:p>
        </p:txBody>
      </p:sp>
      <p:sp>
        <p:nvSpPr>
          <p:cNvPr id="20" name="rule-558-394">
            <a:extLst xmlns:a="http://schemas.openxmlformats.org/drawingml/2006/main">
              <a:ext uri="{FF2B5EF4-FFF2-40B4-BE49-F238E27FC236}">
                <a16:creationId xmlns:a16="http://schemas.microsoft.com/office/drawing/2014/main" id="{434BAC91-16D2-40FC-823D-E095F07E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5D948BFD-68FA-4025-AE68-0E0F0555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8A6E04FF-49A4-4F18-89A8-E06ED21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Pricing and productivity assumptions</a:t>
            </a:r>
          </a:p>
        </p:txBody>
      </p:sp>
    </p:spTree>
    <p:extLst>
      <p:ext uri="{BB962C8B-B14F-4D97-AF65-F5344CB8AC3E}">
        <p14:creationId xmlns:p14="http://schemas.microsoft.com/office/powerpoint/2010/main" val="1191856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3615B2D-278E-408F-B3A0-6D87699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835A3A00-9F14-444D-9202-40D8E0E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5543F0AD-E221-4758-8BD4-E4A5544D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3945C0EA-2A04-482B-A1A2-2C86F01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0D04EADC-2069-4485-9F28-E31C22F8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December 18, 2025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4807432-B5E5-4416-9C30-4F52770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DE8B9BF-8FCF-4529-ACC6-B25AAE02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People and capacity</a:t>
            </a:r>
          </a:p>
        </p:txBody>
      </p:sp>
      <p:sp>
        <p:nvSpPr>
          <p:cNvPr id="8" name="metric-inline-label">
            <a:extLst xmlns:a="http://schemas.openxmlformats.org/drawingml/2006/main">
              <a:ext uri="{FF2B5EF4-FFF2-40B4-BE49-F238E27FC236}">
                <a16:creationId xmlns:a16="http://schemas.microsoft.com/office/drawing/2014/main" id="{42A66B22-09FC-404C-B6A7-BBEFAA63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81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YEAR-END HC</a:t>
            </a:r>
          </a:p>
        </p:txBody>
      </p:sp>
      <p:sp>
        <p:nvSpPr>
          <p:cNvPr id="9" name="metric-inline-value">
            <a:extLst xmlns:a="http://schemas.openxmlformats.org/drawingml/2006/main">
              <a:ext uri="{FF2B5EF4-FFF2-40B4-BE49-F238E27FC236}">
                <a16:creationId xmlns:a16="http://schemas.microsoft.com/office/drawing/2014/main" id="{FBD7F5B4-D61D-4D3F-B70D-33CC1902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3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73B33"/>
                </a:solidFill>
              </a:defRPr>
            </a:pPr>
            <a:r>
              <a:rPr sz="3150" b="1">
                <a:solidFill>
                  <a:srgbClr val="173B33"/>
                </a:solidFill>
              </a:rPr>
              <a:t>116</a:t>
            </a:r>
          </a:p>
        </p:txBody>
      </p:sp>
      <p:sp>
        <p:nvSpPr>
          <p:cNvPr id="10" name="rule-64-160">
            <a:extLst xmlns:a="http://schemas.openxmlformats.org/drawingml/2006/main">
              <a:ext uri="{FF2B5EF4-FFF2-40B4-BE49-F238E27FC236}">
                <a16:creationId xmlns:a16="http://schemas.microsoft.com/office/drawing/2014/main" id="{3343F296-5110-48E7-AA22-75D0B7C1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CE947EF1-2735-47A6-8E69-448338B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7DFA4C63-7673-4515-87FD-6453B979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193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Targeted technician hiring</a:t>
            </a:r>
          </a:p>
        </p:txBody>
      </p:sp>
      <p:sp>
        <p:nvSpPr>
          <p:cNvPr id="13" name="rule-208-260">
            <a:extLst xmlns:a="http://schemas.openxmlformats.org/drawingml/2006/main">
              <a:ext uri="{FF2B5EF4-FFF2-40B4-BE49-F238E27FC236}">
                <a16:creationId xmlns:a16="http://schemas.microsoft.com/office/drawing/2014/main" id="{8DDAAF1F-9BBE-47D8-9F30-B7441B7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78311E63-2086-46DD-B8CE-A2DEBFB2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E26183DD-0AF5-4F8B-BB24-3D03943E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Apprentice progression</a:t>
            </a:r>
          </a:p>
        </p:txBody>
      </p:sp>
      <p:sp>
        <p:nvSpPr>
          <p:cNvPr id="16" name="rule-208-346">
            <a:extLst xmlns:a="http://schemas.openxmlformats.org/drawingml/2006/main">
              <a:ext uri="{FF2B5EF4-FFF2-40B4-BE49-F238E27FC236}">
                <a16:creationId xmlns:a16="http://schemas.microsoft.com/office/drawing/2014/main" id="{CFA5F6CE-AB34-4A5A-8407-9EF95A2E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30A8314B-4A3D-46FE-9CBB-44393D23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3CF77DE9-DC29-45A9-B11C-447D152A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Project-management span</a:t>
            </a:r>
          </a:p>
        </p:txBody>
      </p:sp>
      <p:sp>
        <p:nvSpPr>
          <p:cNvPr id="19" name="rule-208-432">
            <a:extLst xmlns:a="http://schemas.openxmlformats.org/drawingml/2006/main">
              <a:ext uri="{FF2B5EF4-FFF2-40B4-BE49-F238E27FC236}">
                <a16:creationId xmlns:a16="http://schemas.microsoft.com/office/drawing/2014/main" id="{FBC8BCFC-F036-4319-890A-A8C60CE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FFE58BE2-ECBF-4E7C-9C2C-91E13369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B1566CA0-0723-4428-9149-8CC152B0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Overtime guardrails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1D449B34-E0F6-4B23-8777-F0FDE41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Hiring is phased to awarded backlog and service call volume.</a:t>
            </a:r>
          </a:p>
        </p:txBody>
      </p:sp>
    </p:spTree>
    <p:extLst>
      <p:ext uri="{BB962C8B-B14F-4D97-AF65-F5344CB8AC3E}">
        <p14:creationId xmlns:p14="http://schemas.microsoft.com/office/powerpoint/2010/main" val="1791189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06508523-AD02-4DEA-81B8-A7650126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25FE7B42-AAD1-4EA3-8FBE-6D0C3652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2B2E8CC0-A874-4671-9C5F-A44AB85C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AD0A59C0-5C6A-4F98-B13A-7BC929F0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CD88622F-E973-4357-920F-450F85B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December 18, 2025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76761F1-0DCD-42AD-ADC5-074DB96E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5108A0A-5FAA-45C1-81AA-C91AD3D4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Capital plan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6753722C-C55D-4BC7-B8A5-A9411BA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9B8F7D4E-E521-4B7C-A864-F490115E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Fleet replacement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6F084BC9-C009-46BF-909E-7D0717C7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F978CD00-F7C9-47C4-A634-EAEB3E9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D4812367-A587-458B-AD94-FE59A92B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Fabrication bottleneck removal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A3FFBFFD-F37D-48E5-A4FC-30565935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6C3A14D2-862B-4BDE-B894-01A42A8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83C79941-337C-4862-AFA5-E3C0ED9D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Controls test equipment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BDC7C8AB-311D-43F8-9146-72C96EC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F53B73E2-1495-4E7F-BEC2-E59DEEE1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402D14AF-5C05-4161-A5D8-8F41070D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Warehouse alternatives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0C7924E-6DBB-48A7-A692-2FEA4AA7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CAPEX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1608EA6-617D-4148-A3ED-1137C7E7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$1.1m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6C21A205-7D45-457E-8B95-FC8A4BB2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CC5C30AA-DFDF-44D2-A8D4-E64F5A35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Each release remains subject to CFO approval and liquidity sequencing.</a:t>
            </a:r>
          </a:p>
        </p:txBody>
      </p:sp>
    </p:spTree>
    <p:extLst>
      <p:ext uri="{BB962C8B-B14F-4D97-AF65-F5344CB8AC3E}">
        <p14:creationId xmlns:p14="http://schemas.microsoft.com/office/powerpoint/2010/main" val="62471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FABABD46-1B72-48D7-AF07-88A0AC5C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69F0DAE5-C67D-4DFC-B442-10BF3F6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83A8AA28-9DAE-470D-B5F6-3BE7111F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47EDD49F-15A0-485C-812C-4B983FFB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1222E7F8-8C00-4739-AEC9-3D04CA77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December 18, 2025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F6495E-5106-44D8-A2D6-D802CBD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6236161-BA28-4D1A-827E-3D0F089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Cash and funding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3506D84-4AA6-46F2-9F48-D9AF11B8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MINIMUM CASH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6629184-18D3-4DF5-A53D-6A2C5563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33"/>
                </a:solidFill>
              </a:defRPr>
            </a:pPr>
            <a:r>
              <a:rPr sz="4350" b="1">
                <a:solidFill>
                  <a:srgbClr val="173B33"/>
                </a:solidFill>
              </a:rPr>
              <a:t>$1.8m</a:t>
            </a:r>
          </a:p>
        </p:txBody>
      </p:sp>
      <p:sp>
        <p:nvSpPr>
          <p:cNvPr id="10" name="rule-68-310">
            <a:extLst xmlns:a="http://schemas.openxmlformats.org/drawingml/2006/main">
              <a:ext uri="{FF2B5EF4-FFF2-40B4-BE49-F238E27FC236}">
                <a16:creationId xmlns:a16="http://schemas.microsoft.com/office/drawing/2014/main" id="{8418BBB7-7B4C-4D1F-A5F3-79236114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44E33433-33EF-4553-BF19-958C283A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Plan maintains headroom above the $1.25m internal floor.</a:t>
            </a:r>
          </a:p>
        </p:txBody>
      </p:sp>
      <p:sp>
        <p:nvSpPr>
          <p:cNvPr id="12" name="num-0">
            <a:extLst xmlns:a="http://schemas.openxmlformats.org/drawingml/2006/main">
              <a:ext uri="{FF2B5EF4-FFF2-40B4-BE49-F238E27FC236}">
                <a16:creationId xmlns:a16="http://schemas.microsoft.com/office/drawing/2014/main" id="{3519D35A-6868-41E3-9C7B-A312F77F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81D2F226-80BE-449F-8777-BD04C67F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Monthly cash conversion</a:t>
            </a:r>
          </a:p>
        </p:txBody>
      </p:sp>
      <p:sp>
        <p:nvSpPr>
          <p:cNvPr id="14" name="rule-558-230">
            <a:extLst xmlns:a="http://schemas.openxmlformats.org/drawingml/2006/main">
              <a:ext uri="{FF2B5EF4-FFF2-40B4-BE49-F238E27FC236}">
                <a16:creationId xmlns:a16="http://schemas.microsoft.com/office/drawing/2014/main" id="{96102972-C0BD-4220-AAE8-49D857F0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5" name="num-1">
            <a:extLst xmlns:a="http://schemas.openxmlformats.org/drawingml/2006/main">
              <a:ext uri="{FF2B5EF4-FFF2-40B4-BE49-F238E27FC236}">
                <a16:creationId xmlns:a16="http://schemas.microsoft.com/office/drawing/2014/main" id="{B9D5F5F7-1CBC-4F12-96CA-D5C37840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8A5A5744-CB92-419E-B54F-2F378B66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Working-capital seasonality</a:t>
            </a:r>
          </a:p>
        </p:txBody>
      </p:sp>
      <p:sp>
        <p:nvSpPr>
          <p:cNvPr id="17" name="rule-558-312">
            <a:extLst xmlns:a="http://schemas.openxmlformats.org/drawingml/2006/main">
              <a:ext uri="{FF2B5EF4-FFF2-40B4-BE49-F238E27FC236}">
                <a16:creationId xmlns:a16="http://schemas.microsoft.com/office/drawing/2014/main" id="{18E41E91-1F29-4575-B2A8-B254F470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9909DAF7-73CD-4837-9C09-E450DC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8D1AE3B9-19DE-41B4-9E64-CFB89AD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Equipment debt alternative</a:t>
            </a:r>
          </a:p>
        </p:txBody>
      </p:sp>
      <p:sp>
        <p:nvSpPr>
          <p:cNvPr id="20" name="rule-558-394">
            <a:extLst xmlns:a="http://schemas.openxmlformats.org/drawingml/2006/main">
              <a:ext uri="{FF2B5EF4-FFF2-40B4-BE49-F238E27FC236}">
                <a16:creationId xmlns:a16="http://schemas.microsoft.com/office/drawing/2014/main" id="{5563598D-1B6A-4B34-9694-938B10E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276A1D57-81D3-4579-9532-F28E7179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5144D72F-AE09-46E2-ABD1-7165E236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Revolver as contingency</a:t>
            </a:r>
          </a:p>
        </p:txBody>
      </p:sp>
    </p:spTree>
    <p:extLst>
      <p:ext uri="{BB962C8B-B14F-4D97-AF65-F5344CB8AC3E}">
        <p14:creationId xmlns:p14="http://schemas.microsoft.com/office/powerpoint/2010/main" val="1243806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B6DBB3AB-524F-4082-9DC4-315584D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163DA7E1-1848-49A8-AE52-1DCE2922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E18182CB-C704-42EB-B8DC-C24DC4A9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D00A9346-38D7-4693-9972-3D801FFB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6C723264-4BD4-4327-9398-EBC792E7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December 18, 2025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83122CA-0BA7-434E-8A6A-9DE64879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31004C5-1985-4FE5-8707-347B18B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Risks and sensitivities</a:t>
            </a:r>
          </a:p>
        </p:txBody>
      </p:sp>
      <p:sp>
        <p:nvSpPr>
          <p:cNvPr id="8" name="metric-inline-label">
            <a:extLst xmlns:a="http://schemas.openxmlformats.org/drawingml/2006/main">
              <a:ext uri="{FF2B5EF4-FFF2-40B4-BE49-F238E27FC236}">
                <a16:creationId xmlns:a16="http://schemas.microsoft.com/office/drawing/2014/main" id="{CAC020E9-7E56-426E-8BAB-FC2A1BF3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81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DOWNSIDE CASE</a:t>
            </a:r>
          </a:p>
        </p:txBody>
      </p:sp>
      <p:sp>
        <p:nvSpPr>
          <p:cNvPr id="9" name="metric-inline-value">
            <a:extLst xmlns:a="http://schemas.openxmlformats.org/drawingml/2006/main">
              <a:ext uri="{FF2B5EF4-FFF2-40B4-BE49-F238E27FC236}">
                <a16:creationId xmlns:a16="http://schemas.microsoft.com/office/drawing/2014/main" id="{AB0579FD-B38E-44FC-98F2-B23E92D3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3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173B33"/>
                </a:solidFill>
              </a:defRPr>
            </a:pPr>
            <a:r>
              <a:rPr sz="2700" b="1">
                <a:solidFill>
                  <a:srgbClr val="173B33"/>
                </a:solidFill>
              </a:rPr>
              <a:t>-$2.4m</a:t>
            </a:r>
          </a:p>
        </p:txBody>
      </p:sp>
      <p:sp>
        <p:nvSpPr>
          <p:cNvPr id="10" name="rule-64-160">
            <a:extLst xmlns:a="http://schemas.openxmlformats.org/drawingml/2006/main">
              <a:ext uri="{FF2B5EF4-FFF2-40B4-BE49-F238E27FC236}">
                <a16:creationId xmlns:a16="http://schemas.microsoft.com/office/drawing/2014/main" id="{96B12FC0-6803-4EC5-A818-1C7FF7C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26E718A0-042F-4C2F-82CB-CB853B1D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6BAFF36A-17DE-41B5-83A1-00D77039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193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Backlog slippage</a:t>
            </a:r>
          </a:p>
        </p:txBody>
      </p:sp>
      <p:sp>
        <p:nvSpPr>
          <p:cNvPr id="13" name="rule-208-260">
            <a:extLst xmlns:a="http://schemas.openxmlformats.org/drawingml/2006/main">
              <a:ext uri="{FF2B5EF4-FFF2-40B4-BE49-F238E27FC236}">
                <a16:creationId xmlns:a16="http://schemas.microsoft.com/office/drawing/2014/main" id="{470C428D-4D18-4B0F-8571-A7C0B670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8E2A0061-85B7-4F5E-9ED0-8F9315E9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3E28DDED-4CC6-4E2B-9D31-3B9519E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Labor productivity</a:t>
            </a:r>
          </a:p>
        </p:txBody>
      </p:sp>
      <p:sp>
        <p:nvSpPr>
          <p:cNvPr id="16" name="rule-208-346">
            <a:extLst xmlns:a="http://schemas.openxmlformats.org/drawingml/2006/main">
              <a:ext uri="{FF2B5EF4-FFF2-40B4-BE49-F238E27FC236}">
                <a16:creationId xmlns:a16="http://schemas.microsoft.com/office/drawing/2014/main" id="{727B1719-070A-46AD-9F30-D0595055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D101ADC5-5E8C-4496-AE71-00EEE9C9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354670DF-5CD2-4E46-9CE7-A3A70370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Customer funding dates</a:t>
            </a:r>
          </a:p>
        </p:txBody>
      </p:sp>
      <p:sp>
        <p:nvSpPr>
          <p:cNvPr id="19" name="rule-208-432">
            <a:extLst xmlns:a="http://schemas.openxmlformats.org/drawingml/2006/main">
              <a:ext uri="{FF2B5EF4-FFF2-40B4-BE49-F238E27FC236}">
                <a16:creationId xmlns:a16="http://schemas.microsoft.com/office/drawing/2014/main" id="{B6FEDF48-8E9B-4D12-8235-72ECFD75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EBC6DCD2-58FA-4291-BA8A-51009D08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AF628B80-A4CE-462B-B323-914B1D57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Material escalation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E1F90A7E-4B9B-4BCE-816E-32CB307E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Downside response emphasizes capex deferral and payment sequencing.</a:t>
            </a:r>
          </a:p>
        </p:txBody>
      </p:sp>
    </p:spTree>
    <p:extLst>
      <p:ext uri="{BB962C8B-B14F-4D97-AF65-F5344CB8AC3E}">
        <p14:creationId xmlns:p14="http://schemas.microsoft.com/office/powerpoint/2010/main" val="10198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385B6BFC-D89E-42AE-B6BB-B7256AA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FY26 ANNUAL OPERATING PLAN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6FEA1AA8-CD43-48BB-91BC-9BD4AB12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APPROVED 12/18/25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6CF87B72-AF09-49F0-8BCA-283E2AA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0423F265-8843-4E7E-B79E-FBF0D38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4ECE1C4A-28CC-4C3E-981E-609231B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December 18, 2025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4F16AF1-A5D0-4B1C-8E91-7DFD0287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8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300CE1B-F19C-40D1-A090-33ECB42E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Approval and controls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B258F121-F21C-491B-8476-1C4139F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52464A48-CEF1-4339-9708-35F1E1A9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Department owner sign-offs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6D3CDE92-ACDC-434C-ACAD-AC0EC96A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77F255B3-BC91-443E-AFC7-39968704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7464957E-F480-4B65-9553-2D593A7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Board approval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1CA2D61E-B026-4FF7-A81D-E1C6404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A84E5C9D-9523-4553-AAB3-A5CD8BF8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939F0126-2AE4-4573-B496-4332C1E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Version freeze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96F7BDCB-381D-493E-BF55-DC28737E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30BC0208-E10C-4226-810F-44601C6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B957FB85-83AB-4575-8988-DC96854A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Monthly variance governance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2A6CCC9-0EAE-41AB-81BB-9912ADB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PLAN STATUS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3CABCA2-D8D6-4AF0-B419-09F5DD5C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Approved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08B887CC-A429-4ABA-909D-533D6EF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32063253-6BDD-45CD-B464-7B074D8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FINAL2 workbook contains the locked monthly phasing and source log.</a:t>
            </a:r>
          </a:p>
        </p:txBody>
      </p:sp>
    </p:spTree>
    <p:extLst>
      <p:ext uri="{BB962C8B-B14F-4D97-AF65-F5344CB8AC3E}">
        <p14:creationId xmlns:p14="http://schemas.microsoft.com/office/powerpoint/2010/main" val="1799781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2026-08-25T18:14:53.3370000Z</dcterms:created>
  <dcterms:modified xsi:type="dcterms:W3CDTF">2026-08-25T18:14:53.3370000Z</dcterms:modified>
</coreProperties>
</file>