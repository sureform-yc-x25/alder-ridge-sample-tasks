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4fdba4706247c0" /><Relationship Type="http://schemas.openxmlformats.org/officeDocument/2006/relationships/extended-properties" Target="/docProps/app.xml" Id="Ra212efdd26f34031" /><Relationship Type="http://schemas.openxmlformats.org/officeDocument/2006/relationships/officeDocument" Target="/ppt/presentation.xml" Id="Rbe4dbb6209924306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054d2390f53485a"/>
  </p:sldMasterIdLst>
  <p:notesMasterIdLst>
    <p:notesMasterId xmlns:r="http://schemas.openxmlformats.org/officeDocument/2006/relationships" r:id="R5a015f9ad4df4e6f"/>
  </p:notesMasterIdLst>
  <p:sldIdLst>
    <p:sldId xmlns:r="http://schemas.openxmlformats.org/officeDocument/2006/relationships" id="256" r:id="R8c8fdaffece94991"/>
    <p:sldId xmlns:r="http://schemas.openxmlformats.org/officeDocument/2006/relationships" id="257" r:id="R2ca0662b714a4ce6"/>
    <p:sldId xmlns:r="http://schemas.openxmlformats.org/officeDocument/2006/relationships" id="258" r:id="R126656e238074079"/>
    <p:sldId xmlns:r="http://schemas.openxmlformats.org/officeDocument/2006/relationships" id="259" r:id="R45b4d9e2cc62462d"/>
    <p:sldId xmlns:r="http://schemas.openxmlformats.org/officeDocument/2006/relationships" id="260" r:id="R7a2fb62ffc1a4ed3"/>
    <p:sldId xmlns:r="http://schemas.openxmlformats.org/officeDocument/2006/relationships" id="261" r:id="Ra512f9afdfd5412a"/>
    <p:sldId xmlns:r="http://schemas.openxmlformats.org/officeDocument/2006/relationships" id="262" r:id="Ra12422ab65614ea0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928c78e3e2c4032" /><Relationship Type="http://schemas.openxmlformats.org/officeDocument/2006/relationships/slideMaster" Target="/ppt/slideMasters/slideMaster1.xml" Id="Ra054d2390f53485a" /><Relationship Type="http://schemas.openxmlformats.org/officeDocument/2006/relationships/notesMaster" Target="/ppt/notesMasters/notesMaster1.xml" Id="R5a015f9ad4df4e6f" /><Relationship Type="http://schemas.openxmlformats.org/officeDocument/2006/relationships/presProps" Target="/ppt/presProps.xml" Id="Ra9375a2a739c4315" /><Relationship Type="http://schemas.openxmlformats.org/officeDocument/2006/relationships/tableStyles" Target="/ppt/tableStyles.xml" Id="Rbf462516de0e43a4" /><Relationship Type="http://schemas.openxmlformats.org/officeDocument/2006/relationships/slide" Target="/ppt/slides/slide1.xml" Id="R8c8fdaffece94991" /><Relationship Type="http://schemas.openxmlformats.org/officeDocument/2006/relationships/slide" Target="/ppt/slides/slide2.xml" Id="R2ca0662b714a4ce6" /><Relationship Type="http://schemas.openxmlformats.org/officeDocument/2006/relationships/slide" Target="/ppt/slides/slide3.xml" Id="R126656e238074079" /><Relationship Type="http://schemas.openxmlformats.org/officeDocument/2006/relationships/slide" Target="/ppt/slides/slide4.xml" Id="R45b4d9e2cc62462d" /><Relationship Type="http://schemas.openxmlformats.org/officeDocument/2006/relationships/slide" Target="/ppt/slides/slide5.xml" Id="R7a2fb62ffc1a4ed3" /><Relationship Type="http://schemas.openxmlformats.org/officeDocument/2006/relationships/slide" Target="/ppt/slides/slide6.xml" Id="Ra512f9afdfd5412a" /><Relationship Type="http://schemas.openxmlformats.org/officeDocument/2006/relationships/slide" Target="/ppt/slides/slide7.xml" Id="Ra12422ab65614ea0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9cb11049f56403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3f8cf07c02f420f" /><Relationship Type="http://schemas.openxmlformats.org/officeDocument/2006/relationships/notesMaster" Target="/ppt/notesMasters/notesMaster1.xml" Id="Rd6cce5191099469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0dfecb9fc4d4781" /><Relationship Type="http://schemas.openxmlformats.org/officeDocument/2006/relationships/notesMaster" Target="/ppt/notesMasters/notesMaster1.xml" Id="R0fb7fac3b1d24f3c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df561e9febf4fe5" /><Relationship Type="http://schemas.openxmlformats.org/officeDocument/2006/relationships/notesMaster" Target="/ppt/notesMasters/notesMaster1.xml" Id="R44d23efcd9944d8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5609d19927a411d" /><Relationship Type="http://schemas.openxmlformats.org/officeDocument/2006/relationships/notesMaster" Target="/ppt/notesMasters/notesMaster1.xml" Id="R16df7c1ed02344d4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2333cb5af844d55" /><Relationship Type="http://schemas.openxmlformats.org/officeDocument/2006/relationships/notesMaster" Target="/ppt/notesMasters/notesMaster1.xml" Id="R05eb9e0f7c95405a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91b98b3a1f545e4" /><Relationship Type="http://schemas.openxmlformats.org/officeDocument/2006/relationships/notesMaster" Target="/ppt/notesMasters/notesMaster1.xml" Id="R8b2ee2f9e041429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ed31e31f444e41bd" /><Relationship Type="http://schemas.openxmlformats.org/officeDocument/2006/relationships/notesMaster" Target="/ppt/notesMasters/notesMaster1.xml" Id="Rddabcedcbe854c6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environment/seed/sources/Shared/Operations/Project Reviews/weekly top jobs review - 6.29 PM copy.pptx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environment/seed/sources/Shared/Operations/Project Reviews/weekly top jobs review - 6.29 PM copy.pptx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environment/seed/sources/Shared/Operations/Project Reviews/weekly top jobs review - 6.29 PM copy.pptx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environment/seed/sources/Shared/Operations/Project Reviews/weekly top jobs review - 6.29 PM copy.pptx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environment/seed/sources/Shared/Operations/Project Reviews/weekly top jobs review - 6.29 PM copy.pptx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environment/seed/sources/Shared/Operations/Project Reviews/weekly top jobs review - 6.29 PM copy.pptx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environment/seed/sources/Shared/Operations/Project Reviews/weekly top jobs review - 6.29 PM copy.pptx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3acd3d01c0462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5809b8bba2c4099" /><Relationship Type="http://schemas.openxmlformats.org/officeDocument/2006/relationships/slideLayout" Target="/ppt/slideLayouts/slideLayout1.xml" Id="Rc27301d73446447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c27301d73446447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b892d3b159495a" /><Relationship Type="http://schemas.openxmlformats.org/officeDocument/2006/relationships/notesSlide" Target="/ppt/notesSlides/notesSlide1.xml" Id="R83d78f8263e04aa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67ca29ce9544b2" /><Relationship Type="http://schemas.openxmlformats.org/officeDocument/2006/relationships/notesSlide" Target="/ppt/notesSlides/notesSlide2.xml" Id="Ra0fd95f6f1d1457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041d3d69bd4c78" /><Relationship Type="http://schemas.openxmlformats.org/officeDocument/2006/relationships/notesSlide" Target="/ppt/notesSlides/notesSlide3.xml" Id="R11a1d879a9fc4ae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8c008823f2f4691" /><Relationship Type="http://schemas.openxmlformats.org/officeDocument/2006/relationships/notesSlide" Target="/ppt/notesSlides/notesSlide4.xml" Id="R8c6ec01c68194d8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f229c3439cd4327" /><Relationship Type="http://schemas.openxmlformats.org/officeDocument/2006/relationships/notesSlide" Target="/ppt/notesSlides/notesSlide5.xml" Id="R8fde25ae4e254e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6751b33bca4f14" /><Relationship Type="http://schemas.openxmlformats.org/officeDocument/2006/relationships/notesSlide" Target="/ppt/notesSlides/notesSlide6.xml" Id="Rcab432858e3e4d6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f3a530904d43e0" /><Relationship Type="http://schemas.openxmlformats.org/officeDocument/2006/relationships/notesSlide" Target="/ppt/notesSlides/notesSlide7.xml" Id="Rb22d7e5a7ba44db6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company">
            <a:extLst xmlns:a="http://schemas.openxmlformats.org/drawingml/2006/main">
              <a:ext uri="{FF2B5EF4-FFF2-40B4-BE49-F238E27FC236}">
                <a16:creationId xmlns:a16="http://schemas.microsoft.com/office/drawing/2014/main" id="{8990B129-3296-47B4-883D-1661CA3C8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5334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73B33"/>
                </a:solidFill>
              </a:defRPr>
            </a:pPr>
            <a:r>
              <a:rPr sz="1050" b="1">
                <a:solidFill>
                  <a:srgbClr val="173B33"/>
                </a:solidFill>
              </a:rPr>
              <a:t>ALDER RIDGE MECHANICAL</a:t>
            </a:r>
          </a:p>
        </p:txBody>
      </p:sp>
      <p:sp>
        <p:nvSpPr>
          <p:cNvPr id="2" name="status">
            <a:extLst xmlns:a="http://schemas.openxmlformats.org/drawingml/2006/main">
              <a:ext uri="{FF2B5EF4-FFF2-40B4-BE49-F238E27FC236}">
                <a16:creationId xmlns:a16="http://schemas.microsoft.com/office/drawing/2014/main" id="{59C760F2-CA4D-4581-82AE-4452F6201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14350"/>
            <a:ext cx="3505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PM WORKING COPY</a:t>
            </a:r>
          </a:p>
        </p:txBody>
      </p:sp>
      <p:sp>
        <p:nvSpPr>
          <p:cNvPr id="3" name="rule-72-92">
            <a:extLst xmlns:a="http://schemas.openxmlformats.org/drawingml/2006/main">
              <a:ext uri="{FF2B5EF4-FFF2-40B4-BE49-F238E27FC236}">
                <a16:creationId xmlns:a16="http://schemas.microsoft.com/office/drawing/2014/main" id="{5C6F1581-3AD5-48A4-B305-9057A62BED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33"/>
          </a:solidFill>
          <a:ln xmlns:a="http://schemas.openxmlformats.org/drawingml/2006/main" w="0">
            <a:solidFill>
              <a:srgbClr val="173B33"/>
            </a:solidFill>
            <a:prstDash val="solid"/>
          </a:ln>
        </p:spPr>
      </p:sp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4032C0E8-F132-4F6A-ADEE-EAAE4A6AE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8953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050" b="1">
                <a:solidFill>
                  <a:srgbClr val="173B33"/>
                </a:solidFill>
              </a:defRPr>
            </a:pPr>
            <a:r>
              <a:rPr sz="4050" b="1">
                <a:solidFill>
                  <a:srgbClr val="173B33"/>
                </a:solidFill>
              </a:rPr>
              <a:t>Weekly Major Jobs Review</a:t>
            </a:r>
          </a:p>
        </p:txBody>
      </p:sp>
      <p:sp>
        <p:nvSpPr>
          <p:cNvPr id="5" name="subtitle">
            <a:extLst xmlns:a="http://schemas.openxmlformats.org/drawingml/2006/main">
              <a:ext uri="{FF2B5EF4-FFF2-40B4-BE49-F238E27FC236}">
                <a16:creationId xmlns:a16="http://schemas.microsoft.com/office/drawing/2014/main" id="{89A517C8-B3DD-4B68-B842-82D97C1CA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0"/>
            <a:ext cx="7810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0">
                <a:solidFill>
                  <a:srgbClr val="252725"/>
                </a:solidFill>
              </a:defRPr>
            </a:pPr>
            <a:r>
              <a:rPr sz="1800" b="0">
                <a:solidFill>
                  <a:srgbClr val="252725"/>
                </a:solidFill>
              </a:rPr>
              <a:t>Schedule, labor, procurement, commercial position and cash milestones</a:t>
            </a:r>
          </a:p>
        </p:txBody>
      </p:sp>
      <p:sp>
        <p:nvSpPr>
          <p:cNvPr id="6" name="rule-72-486">
            <a:extLst xmlns:a="http://schemas.openxmlformats.org/drawingml/2006/main">
              <a:ext uri="{FF2B5EF4-FFF2-40B4-BE49-F238E27FC236}">
                <a16:creationId xmlns:a16="http://schemas.microsoft.com/office/drawing/2014/main" id="{A98F115D-6160-4FD0-AFAD-A2997ED774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17145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4B3"/>
          </a:solidFill>
          <a:ln xmlns:a="http://schemas.openxmlformats.org/drawingml/2006/main" w="0">
            <a:solidFill>
              <a:srgbClr val="CFC4B3"/>
            </a:solidFill>
            <a:prstDash val="solid"/>
          </a:ln>
        </p:spPr>
      </p:sp>
      <p:sp>
        <p:nvSpPr>
          <p:cNvPr id="7" name="date">
            <a:extLst xmlns:a="http://schemas.openxmlformats.org/drawingml/2006/main">
              <a:ext uri="{FF2B5EF4-FFF2-40B4-BE49-F238E27FC236}">
                <a16:creationId xmlns:a16="http://schemas.microsoft.com/office/drawing/2014/main" id="{D220B661-9F34-4856-8AB1-CE47B040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6761"/>
                </a:solidFill>
              </a:defRPr>
            </a:pPr>
            <a:r>
              <a:rPr sz="1350" b="0">
                <a:solidFill>
                  <a:srgbClr val="666761"/>
                </a:solidFill>
              </a:rPr>
              <a:t>June 29, 2026</a:t>
            </a:r>
          </a:p>
        </p:txBody>
      </p:sp>
    </p:spTree>
    <p:extLst>
      <p:ext uri="{BB962C8B-B14F-4D97-AF65-F5344CB8AC3E}">
        <p14:creationId xmlns:p14="http://schemas.microsoft.com/office/powerpoint/2010/main" val="15963287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eyebrow">
            <a:extLst xmlns:a="http://schemas.openxmlformats.org/drawingml/2006/main">
              <a:ext uri="{FF2B5EF4-FFF2-40B4-BE49-F238E27FC236}">
                <a16:creationId xmlns:a16="http://schemas.microsoft.com/office/drawing/2014/main" id="{C5873484-8DB3-48AE-9F74-C04645506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3B33"/>
                </a:solidFill>
              </a:defRPr>
            </a:pPr>
            <a:r>
              <a:rPr sz="900" b="1">
                <a:solidFill>
                  <a:srgbClr val="173B33"/>
                </a:solidFill>
              </a:rPr>
              <a:t>WEEKLY MAJOR JOBS REVIEW</a:t>
            </a:r>
          </a:p>
        </p:txBody>
      </p:sp>
      <p:sp>
        <p:nvSpPr>
          <p:cNvPr id="2" name="status">
            <a:extLst xmlns:a="http://schemas.openxmlformats.org/drawingml/2006/main">
              <a:ext uri="{FF2B5EF4-FFF2-40B4-BE49-F238E27FC236}">
                <a16:creationId xmlns:a16="http://schemas.microsoft.com/office/drawing/2014/main" id="{0F65D54D-52D9-481C-940D-77EC1B852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"/>
            <a:ext cx="320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66761"/>
                </a:solidFill>
              </a:defRPr>
            </a:pPr>
            <a:r>
              <a:rPr sz="900" b="1">
                <a:solidFill>
                  <a:srgbClr val="666761"/>
                </a:solidFill>
              </a:rPr>
              <a:t>PM WORKING COPY</a:t>
            </a:r>
          </a:p>
        </p:txBody>
      </p:sp>
      <p:sp>
        <p:nvSpPr>
          <p:cNvPr id="3" name="rule-64-62">
            <a:extLst xmlns:a="http://schemas.openxmlformats.org/drawingml/2006/main">
              <a:ext uri="{FF2B5EF4-FFF2-40B4-BE49-F238E27FC236}">
                <a16:creationId xmlns:a16="http://schemas.microsoft.com/office/drawing/2014/main" id="{E9692168-E8FE-49B7-B5E2-AF363CCB4D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33"/>
          </a:solidFill>
          <a:ln xmlns:a="http://schemas.openxmlformats.org/drawingml/2006/main" w="0">
            <a:solidFill>
              <a:srgbClr val="173B33"/>
            </a:solidFill>
            <a:prstDash val="solid"/>
          </a:ln>
        </p:spPr>
      </p:sp>
      <p:sp>
        <p:nvSpPr>
          <p:cNvPr id="4" name="rule-64-676">
            <a:extLst xmlns:a="http://schemas.openxmlformats.org/drawingml/2006/main">
              <a:ext uri="{FF2B5EF4-FFF2-40B4-BE49-F238E27FC236}">
                <a16:creationId xmlns:a16="http://schemas.microsoft.com/office/drawing/2014/main" id="{B8490818-8A34-4A91-8674-3B2A90644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5" name="footer-date">
            <a:extLst xmlns:a="http://schemas.openxmlformats.org/drawingml/2006/main">
              <a:ext uri="{FF2B5EF4-FFF2-40B4-BE49-F238E27FC236}">
                <a16:creationId xmlns:a16="http://schemas.microsoft.com/office/drawing/2014/main" id="{66549634-8E27-4C13-8427-C7771BB79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6761"/>
                </a:solidFill>
              </a:defRPr>
            </a:pPr>
            <a:r>
              <a:rPr sz="825" b="0">
                <a:solidFill>
                  <a:srgbClr val="666761"/>
                </a:solidFill>
              </a:rPr>
              <a:t>June 29, 2026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0F40374D-CE2C-4942-9241-FD80EEE44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6761"/>
                </a:solidFill>
              </a:defRPr>
            </a:pPr>
            <a:r>
              <a:rPr sz="825" b="0">
                <a:solidFill>
                  <a:srgbClr val="666761"/>
                </a:solidFill>
              </a:rPr>
              <a:t>2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6B16D2C8-F3F8-4D58-8C89-4546EA02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B33"/>
                </a:solidFill>
              </a:defRPr>
            </a:pPr>
            <a:r>
              <a:rPr sz="2850" b="1">
                <a:solidFill>
                  <a:srgbClr val="173B33"/>
                </a:solidFill>
              </a:rPr>
              <a:t>Portfolio heat map</a:t>
            </a:r>
          </a:p>
        </p:txBody>
      </p:sp>
      <p:sp>
        <p:nvSpPr>
          <p:cNvPr id="8" name="num-0">
            <a:extLst xmlns:a="http://schemas.openxmlformats.org/drawingml/2006/main">
              <a:ext uri="{FF2B5EF4-FFF2-40B4-BE49-F238E27FC236}">
                <a16:creationId xmlns:a16="http://schemas.microsoft.com/office/drawing/2014/main" id="{0810D82F-1508-4092-86D0-323CE3877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90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01</a:t>
            </a:r>
          </a:p>
        </p:txBody>
      </p:sp>
      <p:sp>
        <p:nvSpPr>
          <p:cNvPr id="9" name="bullet-0">
            <a:extLst xmlns:a="http://schemas.openxmlformats.org/drawingml/2006/main">
              <a:ext uri="{FF2B5EF4-FFF2-40B4-BE49-F238E27FC236}">
                <a16:creationId xmlns:a16="http://schemas.microsoft.com/office/drawing/2014/main" id="{33AC36EB-EDB9-40B1-9902-B43C4A9D3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90700"/>
            <a:ext cx="5829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Sixteen active / closeout projects</a:t>
            </a:r>
          </a:p>
        </p:txBody>
      </p:sp>
      <p:sp>
        <p:nvSpPr>
          <p:cNvPr id="10" name="rule-118-236">
            <a:extLst xmlns:a="http://schemas.openxmlformats.org/drawingml/2006/main">
              <a:ext uri="{FF2B5EF4-FFF2-40B4-BE49-F238E27FC236}">
                <a16:creationId xmlns:a16="http://schemas.microsoft.com/office/drawing/2014/main" id="{C6275316-5443-4A9D-B787-68DA4107D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47900"/>
            <a:ext cx="5829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11" name="num-1">
            <a:extLst xmlns:a="http://schemas.openxmlformats.org/drawingml/2006/main">
              <a:ext uri="{FF2B5EF4-FFF2-40B4-BE49-F238E27FC236}">
                <a16:creationId xmlns:a16="http://schemas.microsoft.com/office/drawing/2014/main" id="{8C52469E-268F-4FC6-B5FC-F6096E96A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02</a:t>
            </a:r>
          </a:p>
        </p:txBody>
      </p:sp>
      <p:sp>
        <p:nvSpPr>
          <p:cNvPr id="12" name="bullet-1">
            <a:extLst xmlns:a="http://schemas.openxmlformats.org/drawingml/2006/main">
              <a:ext uri="{FF2B5EF4-FFF2-40B4-BE49-F238E27FC236}">
                <a16:creationId xmlns:a16="http://schemas.microsoft.com/office/drawing/2014/main" id="{5CEEAAF2-9982-4E5C-BB4B-119B734F9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533650"/>
            <a:ext cx="5829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Schedule and access constraints</a:t>
            </a:r>
          </a:p>
        </p:txBody>
      </p:sp>
      <p:sp>
        <p:nvSpPr>
          <p:cNvPr id="13" name="rule-118-314">
            <a:extLst xmlns:a="http://schemas.openxmlformats.org/drawingml/2006/main">
              <a:ext uri="{FF2B5EF4-FFF2-40B4-BE49-F238E27FC236}">
                <a16:creationId xmlns:a16="http://schemas.microsoft.com/office/drawing/2014/main" id="{DBBEB355-8529-4C08-B801-8F264014C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90850"/>
            <a:ext cx="5829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14" name="num-2">
            <a:extLst xmlns:a="http://schemas.openxmlformats.org/drawingml/2006/main">
              <a:ext uri="{FF2B5EF4-FFF2-40B4-BE49-F238E27FC236}">
                <a16:creationId xmlns:a16="http://schemas.microsoft.com/office/drawing/2014/main" id="{35159F49-B326-4317-B4A8-9F7D7ACE0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76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03</a:t>
            </a:r>
          </a:p>
        </p:txBody>
      </p:sp>
      <p:sp>
        <p:nvSpPr>
          <p:cNvPr id="15" name="bullet-2">
            <a:extLst xmlns:a="http://schemas.openxmlformats.org/drawingml/2006/main">
              <a:ext uri="{FF2B5EF4-FFF2-40B4-BE49-F238E27FC236}">
                <a16:creationId xmlns:a16="http://schemas.microsoft.com/office/drawing/2014/main" id="{95658B9C-13B3-488A-8288-5660C48BE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76600"/>
            <a:ext cx="5829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Estimate confidence</a:t>
            </a:r>
          </a:p>
        </p:txBody>
      </p:sp>
      <p:sp>
        <p:nvSpPr>
          <p:cNvPr id="16" name="rule-118-392">
            <a:extLst xmlns:a="http://schemas.openxmlformats.org/drawingml/2006/main">
              <a:ext uri="{FF2B5EF4-FFF2-40B4-BE49-F238E27FC236}">
                <a16:creationId xmlns:a16="http://schemas.microsoft.com/office/drawing/2014/main" id="{7F0F31F6-93FE-4C59-A741-26AF95CB4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33800"/>
            <a:ext cx="5829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17" name="num-3">
            <a:extLst xmlns:a="http://schemas.openxmlformats.org/drawingml/2006/main">
              <a:ext uri="{FF2B5EF4-FFF2-40B4-BE49-F238E27FC236}">
                <a16:creationId xmlns:a16="http://schemas.microsoft.com/office/drawing/2014/main" id="{2AA0C3EC-DE50-4C7A-9951-BF733B4DB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19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04</a:t>
            </a:r>
          </a:p>
        </p:txBody>
      </p:sp>
      <p:sp>
        <p:nvSpPr>
          <p:cNvPr id="18" name="bullet-3">
            <a:extLst xmlns:a="http://schemas.openxmlformats.org/drawingml/2006/main">
              <a:ext uri="{FF2B5EF4-FFF2-40B4-BE49-F238E27FC236}">
                <a16:creationId xmlns:a16="http://schemas.microsoft.com/office/drawing/2014/main" id="{1F6A692B-9BF0-4E42-A7ED-38088F932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19550"/>
            <a:ext cx="5829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Cash and billing milestones</a:t>
            </a:r>
          </a:p>
        </p:txBody>
      </p:sp>
      <p:sp>
        <p:nvSpPr>
          <p:cNvPr id="1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535CFE57-5355-46B3-8645-81DB2578B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859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66761"/>
                </a:solidFill>
              </a:defRPr>
            </a:pPr>
            <a:r>
              <a:rPr sz="900" b="1">
                <a:solidFill>
                  <a:srgbClr val="666761"/>
                </a:solidFill>
              </a:rPr>
              <a:t>JOBS REVIEWED</a:t>
            </a:r>
          </a:p>
        </p:txBody>
      </p:sp>
      <p:sp>
        <p:nvSpPr>
          <p:cNvPr id="20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FDBC05EB-1996-48F2-80B3-9B1DE2FE5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52650"/>
            <a:ext cx="3238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173B33"/>
                </a:solidFill>
              </a:defRPr>
            </a:pPr>
            <a:r>
              <a:rPr sz="4800" b="1">
                <a:solidFill>
                  <a:srgbClr val="173B33"/>
                </a:solidFill>
              </a:rPr>
              <a:t>16</a:t>
            </a:r>
          </a:p>
        </p:txBody>
      </p:sp>
      <p:sp>
        <p:nvSpPr>
          <p:cNvPr id="21" name="rule-820-320">
            <a:extLst xmlns:a="http://schemas.openxmlformats.org/drawingml/2006/main">
              <a:ext uri="{FF2B5EF4-FFF2-40B4-BE49-F238E27FC236}">
                <a16:creationId xmlns:a16="http://schemas.microsoft.com/office/drawing/2014/main" id="{D7E275F9-847A-42B5-8F55-705CBDA2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480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4B3"/>
          </a:solidFill>
          <a:ln xmlns:a="http://schemas.openxmlformats.org/drawingml/2006/main" w="0">
            <a:solidFill>
              <a:srgbClr val="CFC4B3"/>
            </a:solidFill>
            <a:prstDash val="solid"/>
          </a:ln>
        </p:spPr>
      </p:sp>
      <p:sp>
        <p:nvSpPr>
          <p:cNvPr id="22" name="metric-note">
            <a:extLst xmlns:a="http://schemas.openxmlformats.org/drawingml/2006/main">
              <a:ext uri="{FF2B5EF4-FFF2-40B4-BE49-F238E27FC236}">
                <a16:creationId xmlns:a16="http://schemas.microsoft.com/office/drawing/2014/main" id="{E46D161D-88DC-4101-AE28-315429F0A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76600"/>
            <a:ext cx="323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52725"/>
                </a:solidFill>
              </a:defRPr>
            </a:pPr>
            <a:r>
              <a:rPr sz="1275" b="0">
                <a:solidFill>
                  <a:srgbClr val="252725"/>
                </a:solidFill>
              </a:rPr>
              <a:t>PM status is operational evidence, not posted accounting data.</a:t>
            </a:r>
          </a:p>
        </p:txBody>
      </p:sp>
    </p:spTree>
    <p:extLst>
      <p:ext uri="{BB962C8B-B14F-4D97-AF65-F5344CB8AC3E}">
        <p14:creationId xmlns:p14="http://schemas.microsoft.com/office/powerpoint/2010/main" val="150457483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eyebrow">
            <a:extLst xmlns:a="http://schemas.openxmlformats.org/drawingml/2006/main">
              <a:ext uri="{FF2B5EF4-FFF2-40B4-BE49-F238E27FC236}">
                <a16:creationId xmlns:a16="http://schemas.microsoft.com/office/drawing/2014/main" id="{094C1284-1291-4A84-AB37-9A55DEDEA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3B33"/>
                </a:solidFill>
              </a:defRPr>
            </a:pPr>
            <a:r>
              <a:rPr sz="900" b="1">
                <a:solidFill>
                  <a:srgbClr val="173B33"/>
                </a:solidFill>
              </a:rPr>
              <a:t>WEEKLY MAJOR JOBS REVIEW</a:t>
            </a:r>
          </a:p>
        </p:txBody>
      </p:sp>
      <p:sp>
        <p:nvSpPr>
          <p:cNvPr id="2" name="status">
            <a:extLst xmlns:a="http://schemas.openxmlformats.org/drawingml/2006/main">
              <a:ext uri="{FF2B5EF4-FFF2-40B4-BE49-F238E27FC236}">
                <a16:creationId xmlns:a16="http://schemas.microsoft.com/office/drawing/2014/main" id="{A6D5C315-3ACB-430A-883D-713B80598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"/>
            <a:ext cx="320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66761"/>
                </a:solidFill>
              </a:defRPr>
            </a:pPr>
            <a:r>
              <a:rPr sz="900" b="1">
                <a:solidFill>
                  <a:srgbClr val="666761"/>
                </a:solidFill>
              </a:rPr>
              <a:t>PM WORKING COPY</a:t>
            </a:r>
          </a:p>
        </p:txBody>
      </p:sp>
      <p:sp>
        <p:nvSpPr>
          <p:cNvPr id="3" name="rule-64-62">
            <a:extLst xmlns:a="http://schemas.openxmlformats.org/drawingml/2006/main">
              <a:ext uri="{FF2B5EF4-FFF2-40B4-BE49-F238E27FC236}">
                <a16:creationId xmlns:a16="http://schemas.microsoft.com/office/drawing/2014/main" id="{6FBE72AA-0CE3-4557-B228-D73B0827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33"/>
          </a:solidFill>
          <a:ln xmlns:a="http://schemas.openxmlformats.org/drawingml/2006/main" w="0">
            <a:solidFill>
              <a:srgbClr val="173B33"/>
            </a:solidFill>
            <a:prstDash val="solid"/>
          </a:ln>
        </p:spPr>
      </p:sp>
      <p:sp>
        <p:nvSpPr>
          <p:cNvPr id="4" name="rule-64-676">
            <a:extLst xmlns:a="http://schemas.openxmlformats.org/drawingml/2006/main">
              <a:ext uri="{FF2B5EF4-FFF2-40B4-BE49-F238E27FC236}">
                <a16:creationId xmlns:a16="http://schemas.microsoft.com/office/drawing/2014/main" id="{2BBD6080-D7A5-4299-B3DF-485670B0E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5" name="footer-date">
            <a:extLst xmlns:a="http://schemas.openxmlformats.org/drawingml/2006/main">
              <a:ext uri="{FF2B5EF4-FFF2-40B4-BE49-F238E27FC236}">
                <a16:creationId xmlns:a16="http://schemas.microsoft.com/office/drawing/2014/main" id="{B7389620-FDB4-443A-8942-194050D63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6761"/>
                </a:solidFill>
              </a:defRPr>
            </a:pPr>
            <a:r>
              <a:rPr sz="825" b="0">
                <a:solidFill>
                  <a:srgbClr val="666761"/>
                </a:solidFill>
              </a:rPr>
              <a:t>June 29, 2026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8C9EAA9-A32A-4DF4-BEE4-2C4450B65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6761"/>
                </a:solidFill>
              </a:defRPr>
            </a:pPr>
            <a:r>
              <a:rPr sz="825" b="0">
                <a:solidFill>
                  <a:srgbClr val="666761"/>
                </a:solidFill>
              </a:rPr>
              <a:t>3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E59EA0AD-748B-41AB-B791-B275BC459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B33"/>
                </a:solidFill>
              </a:defRPr>
            </a:pPr>
            <a:r>
              <a:rPr sz="2850" b="1">
                <a:solidFill>
                  <a:srgbClr val="173B33"/>
                </a:solidFill>
              </a:rPr>
              <a:t>Eastbank data-center expansion</a:t>
            </a:r>
          </a:p>
        </p:txBody>
      </p:sp>
      <p:sp>
        <p:nvSpPr>
          <p:cNvPr id="8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CF179784-E570-4A10-91D2-9257DFD80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66761"/>
                </a:solidFill>
              </a:defRPr>
            </a:pPr>
            <a:r>
              <a:rPr sz="900" b="1">
                <a:solidFill>
                  <a:srgbClr val="666761"/>
                </a:solidFill>
              </a:rPr>
              <a:t>CONTRACT</a:t>
            </a:r>
          </a:p>
        </p:txBody>
      </p:sp>
      <p:sp>
        <p:nvSpPr>
          <p:cNvPr id="9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2F0DD8A7-AA03-49B2-A496-2CF3DA364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57400"/>
            <a:ext cx="3333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173B33"/>
                </a:solidFill>
              </a:defRPr>
            </a:pPr>
            <a:r>
              <a:rPr sz="4350" b="1">
                <a:solidFill>
                  <a:srgbClr val="173B33"/>
                </a:solidFill>
              </a:rPr>
              <a:t>$11.6m</a:t>
            </a:r>
          </a:p>
        </p:txBody>
      </p:sp>
      <p:sp>
        <p:nvSpPr>
          <p:cNvPr id="10" name="rule-68-310">
            <a:extLst xmlns:a="http://schemas.openxmlformats.org/drawingml/2006/main">
              <a:ext uri="{FF2B5EF4-FFF2-40B4-BE49-F238E27FC236}">
                <a16:creationId xmlns:a16="http://schemas.microsoft.com/office/drawing/2014/main" id="{10B30894-C05E-447A-BD0A-446236B21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527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4B3"/>
          </a:solidFill>
          <a:ln xmlns:a="http://schemas.openxmlformats.org/drawingml/2006/main" w="0">
            <a:solidFill>
              <a:srgbClr val="CFC4B3"/>
            </a:solidFill>
            <a:prstDash val="solid"/>
          </a:ln>
        </p:spPr>
      </p:sp>
      <p:sp>
        <p:nvSpPr>
          <p:cNvPr id="11" name="metric-note">
            <a:extLst xmlns:a="http://schemas.openxmlformats.org/drawingml/2006/main">
              <a:ext uri="{FF2B5EF4-FFF2-40B4-BE49-F238E27FC236}">
                <a16:creationId xmlns:a16="http://schemas.microsoft.com/office/drawing/2014/main" id="{20FC0605-520C-4FB2-93B9-FBAC3A19C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81350"/>
            <a:ext cx="333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52725"/>
                </a:solidFill>
              </a:defRPr>
            </a:pPr>
            <a:r>
              <a:rPr sz="1275" b="0">
                <a:solidFill>
                  <a:srgbClr val="252725"/>
                </a:solidFill>
              </a:rPr>
              <a:t>Receipt timing remains a treasury judgment supported by owner evidence.</a:t>
            </a:r>
          </a:p>
        </p:txBody>
      </p:sp>
      <p:sp>
        <p:nvSpPr>
          <p:cNvPr id="12" name="num-0">
            <a:extLst xmlns:a="http://schemas.openxmlformats.org/drawingml/2006/main">
              <a:ext uri="{FF2B5EF4-FFF2-40B4-BE49-F238E27FC236}">
                <a16:creationId xmlns:a16="http://schemas.microsoft.com/office/drawing/2014/main" id="{2EADC40D-58C0-4086-BB10-566EEF86C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01</a:t>
            </a:r>
          </a:p>
        </p:txBody>
      </p:sp>
      <p:sp>
        <p:nvSpPr>
          <p:cNvPr id="13" name="bullet-0">
            <a:extLst xmlns:a="http://schemas.openxmlformats.org/drawingml/2006/main">
              <a:ext uri="{FF2B5EF4-FFF2-40B4-BE49-F238E27FC236}">
                <a16:creationId xmlns:a16="http://schemas.microsoft.com/office/drawing/2014/main" id="{7D60E73B-1CE9-4C20-8AB9-12772F0C41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733550"/>
            <a:ext cx="5734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Procurement-heavy cost profile</a:t>
            </a:r>
          </a:p>
        </p:txBody>
      </p:sp>
      <p:sp>
        <p:nvSpPr>
          <p:cNvPr id="14" name="rule-558-230">
            <a:extLst xmlns:a="http://schemas.openxmlformats.org/drawingml/2006/main">
              <a:ext uri="{FF2B5EF4-FFF2-40B4-BE49-F238E27FC236}">
                <a16:creationId xmlns:a16="http://schemas.microsoft.com/office/drawing/2014/main" id="{3CC3E25A-F8B6-415E-81E7-AE37DF4D4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190750"/>
            <a:ext cx="5734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15" name="num-1">
            <a:extLst xmlns:a="http://schemas.openxmlformats.org/drawingml/2006/main">
              <a:ext uri="{FF2B5EF4-FFF2-40B4-BE49-F238E27FC236}">
                <a16:creationId xmlns:a16="http://schemas.microsoft.com/office/drawing/2014/main" id="{DC1927DE-FFC6-4E4C-AD94-374178623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14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02</a:t>
            </a:r>
          </a:p>
        </p:txBody>
      </p:sp>
      <p:sp>
        <p:nvSpPr>
          <p:cNvPr id="16" name="bullet-1">
            <a:extLst xmlns:a="http://schemas.openxmlformats.org/drawingml/2006/main">
              <a:ext uri="{FF2B5EF4-FFF2-40B4-BE49-F238E27FC236}">
                <a16:creationId xmlns:a16="http://schemas.microsoft.com/office/drawing/2014/main" id="{0BA9E152-E3A9-44BC-A93E-AB27D2CD8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514600"/>
            <a:ext cx="5734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Owner funding draw timing</a:t>
            </a:r>
          </a:p>
        </p:txBody>
      </p:sp>
      <p:sp>
        <p:nvSpPr>
          <p:cNvPr id="17" name="rule-558-312">
            <a:extLst xmlns:a="http://schemas.openxmlformats.org/drawingml/2006/main">
              <a:ext uri="{FF2B5EF4-FFF2-40B4-BE49-F238E27FC236}">
                <a16:creationId xmlns:a16="http://schemas.microsoft.com/office/drawing/2014/main" id="{C76972AD-E757-4164-9D09-863FAE43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971800"/>
            <a:ext cx="5734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18" name="num-2">
            <a:extLst xmlns:a="http://schemas.openxmlformats.org/drawingml/2006/main">
              <a:ext uri="{FF2B5EF4-FFF2-40B4-BE49-F238E27FC236}">
                <a16:creationId xmlns:a16="http://schemas.microsoft.com/office/drawing/2014/main" id="{03215FD4-C5B4-4F7B-82BB-AE7879962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03</a:t>
            </a:r>
          </a:p>
        </p:txBody>
      </p:sp>
      <p:sp>
        <p:nvSpPr>
          <p:cNvPr id="19" name="bullet-2">
            <a:extLst xmlns:a="http://schemas.openxmlformats.org/drawingml/2006/main">
              <a:ext uri="{FF2B5EF4-FFF2-40B4-BE49-F238E27FC236}">
                <a16:creationId xmlns:a16="http://schemas.microsoft.com/office/drawing/2014/main" id="{8A508938-5B6C-4050-BA36-BA4DD81E9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95650"/>
            <a:ext cx="5734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Lien-waiver dependency</a:t>
            </a:r>
          </a:p>
        </p:txBody>
      </p:sp>
      <p:sp>
        <p:nvSpPr>
          <p:cNvPr id="20" name="rule-558-394">
            <a:extLst xmlns:a="http://schemas.openxmlformats.org/drawingml/2006/main">
              <a:ext uri="{FF2B5EF4-FFF2-40B4-BE49-F238E27FC236}">
                <a16:creationId xmlns:a16="http://schemas.microsoft.com/office/drawing/2014/main" id="{E8E63011-4969-4D3B-9DD1-DD1BAC375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52850"/>
            <a:ext cx="5734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21" name="num-3">
            <a:extLst xmlns:a="http://schemas.openxmlformats.org/drawingml/2006/main">
              <a:ext uri="{FF2B5EF4-FFF2-40B4-BE49-F238E27FC236}">
                <a16:creationId xmlns:a16="http://schemas.microsoft.com/office/drawing/2014/main" id="{D3BFE14E-84BF-46C8-8B96-4B7648B717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076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04</a:t>
            </a:r>
          </a:p>
        </p:txBody>
      </p:sp>
      <p:sp>
        <p:nvSpPr>
          <p:cNvPr id="22" name="bullet-3">
            <a:extLst xmlns:a="http://schemas.openxmlformats.org/drawingml/2006/main">
              <a:ext uri="{FF2B5EF4-FFF2-40B4-BE49-F238E27FC236}">
                <a16:creationId xmlns:a16="http://schemas.microsoft.com/office/drawing/2014/main" id="{BA6D8563-FA5F-4603-B7F9-9BE4A39334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076700"/>
            <a:ext cx="5734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Controls integration milestone</a:t>
            </a:r>
          </a:p>
        </p:txBody>
      </p:sp>
    </p:spTree>
    <p:extLst>
      <p:ext uri="{BB962C8B-B14F-4D97-AF65-F5344CB8AC3E}">
        <p14:creationId xmlns:p14="http://schemas.microsoft.com/office/powerpoint/2010/main" val="46350716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eyebrow">
            <a:extLst xmlns:a="http://schemas.openxmlformats.org/drawingml/2006/main">
              <a:ext uri="{FF2B5EF4-FFF2-40B4-BE49-F238E27FC236}">
                <a16:creationId xmlns:a16="http://schemas.microsoft.com/office/drawing/2014/main" id="{5D0A1900-6E05-44B4-8B86-2BFDBF524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3B33"/>
                </a:solidFill>
              </a:defRPr>
            </a:pPr>
            <a:r>
              <a:rPr sz="900" b="1">
                <a:solidFill>
                  <a:srgbClr val="173B33"/>
                </a:solidFill>
              </a:rPr>
              <a:t>WEEKLY MAJOR JOBS REVIEW</a:t>
            </a:r>
          </a:p>
        </p:txBody>
      </p:sp>
      <p:sp>
        <p:nvSpPr>
          <p:cNvPr id="2" name="status">
            <a:extLst xmlns:a="http://schemas.openxmlformats.org/drawingml/2006/main">
              <a:ext uri="{FF2B5EF4-FFF2-40B4-BE49-F238E27FC236}">
                <a16:creationId xmlns:a16="http://schemas.microsoft.com/office/drawing/2014/main" id="{C730FE7B-E9D1-434A-AB08-E118118D0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"/>
            <a:ext cx="320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66761"/>
                </a:solidFill>
              </a:defRPr>
            </a:pPr>
            <a:r>
              <a:rPr sz="900" b="1">
                <a:solidFill>
                  <a:srgbClr val="666761"/>
                </a:solidFill>
              </a:rPr>
              <a:t>PM WORKING COPY</a:t>
            </a:r>
          </a:p>
        </p:txBody>
      </p:sp>
      <p:sp>
        <p:nvSpPr>
          <p:cNvPr id="3" name="rule-64-62">
            <a:extLst xmlns:a="http://schemas.openxmlformats.org/drawingml/2006/main">
              <a:ext uri="{FF2B5EF4-FFF2-40B4-BE49-F238E27FC236}">
                <a16:creationId xmlns:a16="http://schemas.microsoft.com/office/drawing/2014/main" id="{D5F53607-D771-40EF-B3EB-3049F3914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33"/>
          </a:solidFill>
          <a:ln xmlns:a="http://schemas.openxmlformats.org/drawingml/2006/main" w="0">
            <a:solidFill>
              <a:srgbClr val="173B33"/>
            </a:solidFill>
            <a:prstDash val="solid"/>
          </a:ln>
        </p:spPr>
      </p:sp>
      <p:sp>
        <p:nvSpPr>
          <p:cNvPr id="4" name="rule-64-676">
            <a:extLst xmlns:a="http://schemas.openxmlformats.org/drawingml/2006/main">
              <a:ext uri="{FF2B5EF4-FFF2-40B4-BE49-F238E27FC236}">
                <a16:creationId xmlns:a16="http://schemas.microsoft.com/office/drawing/2014/main" id="{3DAED6F8-F6DB-4059-809A-3D7462013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5" name="footer-date">
            <a:extLst xmlns:a="http://schemas.openxmlformats.org/drawingml/2006/main">
              <a:ext uri="{FF2B5EF4-FFF2-40B4-BE49-F238E27FC236}">
                <a16:creationId xmlns:a16="http://schemas.microsoft.com/office/drawing/2014/main" id="{2D3E5392-BCF1-4AE9-9C07-E4520508B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6761"/>
                </a:solidFill>
              </a:defRPr>
            </a:pPr>
            <a:r>
              <a:rPr sz="825" b="0">
                <a:solidFill>
                  <a:srgbClr val="666761"/>
                </a:solidFill>
              </a:rPr>
              <a:t>June 29, 2026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32BC9C42-0973-4A84-84D5-053927D5B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6761"/>
                </a:solidFill>
              </a:defRPr>
            </a:pPr>
            <a:r>
              <a:rPr sz="825" b="0">
                <a:solidFill>
                  <a:srgbClr val="666761"/>
                </a:solidFill>
              </a:rPr>
              <a:t>4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630044F5-C8D0-4192-8668-B4DAB5AC1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B33"/>
                </a:solidFill>
              </a:defRPr>
            </a:pPr>
            <a:r>
              <a:rPr sz="2850" b="1">
                <a:solidFill>
                  <a:srgbClr val="173B33"/>
                </a:solidFill>
              </a:rPr>
              <a:t>Cascade Health ambulatory pavilion</a:t>
            </a:r>
          </a:p>
        </p:txBody>
      </p:sp>
      <p:sp>
        <p:nvSpPr>
          <p:cNvPr id="8" name="metric-inline-label">
            <a:extLst xmlns:a="http://schemas.openxmlformats.org/drawingml/2006/main">
              <a:ext uri="{FF2B5EF4-FFF2-40B4-BE49-F238E27FC236}">
                <a16:creationId xmlns:a16="http://schemas.microsoft.com/office/drawing/2014/main" id="{40FC45BE-CA21-4B58-8E4C-19857BD73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98107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66761"/>
                </a:solidFill>
              </a:defRPr>
            </a:pPr>
            <a:r>
              <a:rPr sz="900" b="1">
                <a:solidFill>
                  <a:srgbClr val="666761"/>
                </a:solidFill>
              </a:rPr>
              <a:t>PENDING PRICE</a:t>
            </a:r>
          </a:p>
        </p:txBody>
      </p:sp>
      <p:sp>
        <p:nvSpPr>
          <p:cNvPr id="9" name="metric-inline-value">
            <a:extLst xmlns:a="http://schemas.openxmlformats.org/drawingml/2006/main">
              <a:ext uri="{FF2B5EF4-FFF2-40B4-BE49-F238E27FC236}">
                <a16:creationId xmlns:a16="http://schemas.microsoft.com/office/drawing/2014/main" id="{BBCE7893-5319-4A82-9E61-279664063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8382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3150" b="1">
                <a:solidFill>
                  <a:srgbClr val="173B33"/>
                </a:solidFill>
              </a:defRPr>
            </a:pPr>
            <a:r>
              <a:rPr sz="3150" b="1">
                <a:solidFill>
                  <a:srgbClr val="173B33"/>
                </a:solidFill>
              </a:rPr>
              <a:t>$382k</a:t>
            </a:r>
          </a:p>
        </p:txBody>
      </p:sp>
      <p:sp>
        <p:nvSpPr>
          <p:cNvPr id="10" name="rule-64-160">
            <a:extLst xmlns:a="http://schemas.openxmlformats.org/drawingml/2006/main">
              <a:ext uri="{FF2B5EF4-FFF2-40B4-BE49-F238E27FC236}">
                <a16:creationId xmlns:a16="http://schemas.microsoft.com/office/drawing/2014/main" id="{9CC484D8-174E-4B56-92C3-D4F804177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11" name="num-0">
            <a:extLst xmlns:a="http://schemas.openxmlformats.org/drawingml/2006/main">
              <a:ext uri="{FF2B5EF4-FFF2-40B4-BE49-F238E27FC236}">
                <a16:creationId xmlns:a16="http://schemas.microsoft.com/office/drawing/2014/main" id="{4F253B0B-0287-46D9-930C-0006B8EE6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19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01</a:t>
            </a:r>
          </a:p>
        </p:txBody>
      </p:sp>
      <p:sp>
        <p:nvSpPr>
          <p:cNvPr id="12" name="bullet-0">
            <a:extLst xmlns:a="http://schemas.openxmlformats.org/drawingml/2006/main">
              <a:ext uri="{FF2B5EF4-FFF2-40B4-BE49-F238E27FC236}">
                <a16:creationId xmlns:a16="http://schemas.microsoft.com/office/drawing/2014/main" id="{204E748B-A8A1-473F-8DD5-BF88DA5516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019300"/>
            <a:ext cx="868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Night-shift premium exposure</a:t>
            </a:r>
          </a:p>
        </p:txBody>
      </p:sp>
      <p:sp>
        <p:nvSpPr>
          <p:cNvPr id="13" name="rule-208-260">
            <a:extLst xmlns:a="http://schemas.openxmlformats.org/drawingml/2006/main">
              <a:ext uri="{FF2B5EF4-FFF2-40B4-BE49-F238E27FC236}">
                <a16:creationId xmlns:a16="http://schemas.microsoft.com/office/drawing/2014/main" id="{62A0479B-00E7-4B9C-B99A-210608B730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476500"/>
            <a:ext cx="8686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14" name="num-1">
            <a:extLst xmlns:a="http://schemas.openxmlformats.org/drawingml/2006/main">
              <a:ext uri="{FF2B5EF4-FFF2-40B4-BE49-F238E27FC236}">
                <a16:creationId xmlns:a16="http://schemas.microsoft.com/office/drawing/2014/main" id="{EA068D3F-D162-4361-8133-5F895B950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384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02</a:t>
            </a:r>
          </a:p>
        </p:txBody>
      </p:sp>
      <p:sp>
        <p:nvSpPr>
          <p:cNvPr id="15" name="bullet-1">
            <a:extLst xmlns:a="http://schemas.openxmlformats.org/drawingml/2006/main">
              <a:ext uri="{FF2B5EF4-FFF2-40B4-BE49-F238E27FC236}">
                <a16:creationId xmlns:a16="http://schemas.microsoft.com/office/drawing/2014/main" id="{C20D2A28-7CA4-4C8B-B0BE-0CD6278B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838450"/>
            <a:ext cx="868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Pending PCO documentation</a:t>
            </a:r>
          </a:p>
        </p:txBody>
      </p:sp>
      <p:sp>
        <p:nvSpPr>
          <p:cNvPr id="16" name="rule-208-346">
            <a:extLst xmlns:a="http://schemas.openxmlformats.org/drawingml/2006/main">
              <a:ext uri="{FF2B5EF4-FFF2-40B4-BE49-F238E27FC236}">
                <a16:creationId xmlns:a16="http://schemas.microsoft.com/office/drawing/2014/main" id="{556E4EC3-99AB-475E-BB7D-132DF64C4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295650"/>
            <a:ext cx="8686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17" name="num-2">
            <a:extLst xmlns:a="http://schemas.openxmlformats.org/drawingml/2006/main">
              <a:ext uri="{FF2B5EF4-FFF2-40B4-BE49-F238E27FC236}">
                <a16:creationId xmlns:a16="http://schemas.microsoft.com/office/drawing/2014/main" id="{2D5A6559-5140-4946-B363-3C818D50E3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57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03</a:t>
            </a:r>
          </a:p>
        </p:txBody>
      </p:sp>
      <p:sp>
        <p:nvSpPr>
          <p:cNvPr id="18" name="bullet-2">
            <a:extLst xmlns:a="http://schemas.openxmlformats.org/drawingml/2006/main">
              <a:ext uri="{FF2B5EF4-FFF2-40B4-BE49-F238E27FC236}">
                <a16:creationId xmlns:a16="http://schemas.microsoft.com/office/drawing/2014/main" id="{0059F9B3-C37C-4FB1-BD45-4B9816AFF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657600"/>
            <a:ext cx="868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Occupied-space phasing</a:t>
            </a:r>
          </a:p>
        </p:txBody>
      </p:sp>
      <p:sp>
        <p:nvSpPr>
          <p:cNvPr id="19" name="rule-208-432">
            <a:extLst xmlns:a="http://schemas.openxmlformats.org/drawingml/2006/main">
              <a:ext uri="{FF2B5EF4-FFF2-40B4-BE49-F238E27FC236}">
                <a16:creationId xmlns:a16="http://schemas.microsoft.com/office/drawing/2014/main" id="{27C6263F-17AC-482C-ABB3-04E5583CB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114800"/>
            <a:ext cx="8686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20" name="num-3">
            <a:extLst xmlns:a="http://schemas.openxmlformats.org/drawingml/2006/main">
              <a:ext uri="{FF2B5EF4-FFF2-40B4-BE49-F238E27FC236}">
                <a16:creationId xmlns:a16="http://schemas.microsoft.com/office/drawing/2014/main" id="{C410C428-8F8A-4F1B-8613-C40960E56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76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04</a:t>
            </a:r>
          </a:p>
        </p:txBody>
      </p:sp>
      <p:sp>
        <p:nvSpPr>
          <p:cNvPr id="21" name="bullet-3">
            <a:extLst xmlns:a="http://schemas.openxmlformats.org/drawingml/2006/main">
              <a:ext uri="{FF2B5EF4-FFF2-40B4-BE49-F238E27FC236}">
                <a16:creationId xmlns:a16="http://schemas.microsoft.com/office/drawing/2014/main" id="{E9D796B3-DE16-4AB0-A344-EFD4E9270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476750"/>
            <a:ext cx="868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Billing support</a:t>
            </a:r>
          </a:p>
        </p:txBody>
      </p:sp>
      <p:sp>
        <p:nvSpPr>
          <p:cNvPr id="22" name="note">
            <a:extLst xmlns:a="http://schemas.openxmlformats.org/drawingml/2006/main">
              <a:ext uri="{FF2B5EF4-FFF2-40B4-BE49-F238E27FC236}">
                <a16:creationId xmlns:a16="http://schemas.microsoft.com/office/drawing/2014/main" id="{2D2E997D-714B-4C98-86A8-EE74B8EAE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673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6761"/>
                </a:solidFill>
              </a:defRPr>
            </a:pPr>
            <a:r>
              <a:rPr sz="1350" b="0">
                <a:solidFill>
                  <a:srgbClr val="666761"/>
                </a:solidFill>
              </a:rPr>
              <a:t>Commercial file remains under owner/CM review; reconcile the dated estimate to the current PM forecast.</a:t>
            </a:r>
          </a:p>
        </p:txBody>
      </p:sp>
    </p:spTree>
    <p:extLst>
      <p:ext uri="{BB962C8B-B14F-4D97-AF65-F5344CB8AC3E}">
        <p14:creationId xmlns:p14="http://schemas.microsoft.com/office/powerpoint/2010/main" val="155357711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eyebrow">
            <a:extLst xmlns:a="http://schemas.openxmlformats.org/drawingml/2006/main">
              <a:ext uri="{FF2B5EF4-FFF2-40B4-BE49-F238E27FC236}">
                <a16:creationId xmlns:a16="http://schemas.microsoft.com/office/drawing/2014/main" id="{82FC18EF-84D3-443C-B1E9-011BE47BB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3B33"/>
                </a:solidFill>
              </a:defRPr>
            </a:pPr>
            <a:r>
              <a:rPr sz="900" b="1">
                <a:solidFill>
                  <a:srgbClr val="173B33"/>
                </a:solidFill>
              </a:rPr>
              <a:t>WEEKLY MAJOR JOBS REVIEW</a:t>
            </a:r>
          </a:p>
        </p:txBody>
      </p:sp>
      <p:sp>
        <p:nvSpPr>
          <p:cNvPr id="2" name="status">
            <a:extLst xmlns:a="http://schemas.openxmlformats.org/drawingml/2006/main">
              <a:ext uri="{FF2B5EF4-FFF2-40B4-BE49-F238E27FC236}">
                <a16:creationId xmlns:a16="http://schemas.microsoft.com/office/drawing/2014/main" id="{07E19953-2BB6-4516-A960-A8103E53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"/>
            <a:ext cx="320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66761"/>
                </a:solidFill>
              </a:defRPr>
            </a:pPr>
            <a:r>
              <a:rPr sz="900" b="1">
                <a:solidFill>
                  <a:srgbClr val="666761"/>
                </a:solidFill>
              </a:rPr>
              <a:t>PM WORKING COPY</a:t>
            </a:r>
          </a:p>
        </p:txBody>
      </p:sp>
      <p:sp>
        <p:nvSpPr>
          <p:cNvPr id="3" name="rule-64-62">
            <a:extLst xmlns:a="http://schemas.openxmlformats.org/drawingml/2006/main">
              <a:ext uri="{FF2B5EF4-FFF2-40B4-BE49-F238E27FC236}">
                <a16:creationId xmlns:a16="http://schemas.microsoft.com/office/drawing/2014/main" id="{924A1511-B0B1-48B4-BCEF-8B406ABEB3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33"/>
          </a:solidFill>
          <a:ln xmlns:a="http://schemas.openxmlformats.org/drawingml/2006/main" w="0">
            <a:solidFill>
              <a:srgbClr val="173B33"/>
            </a:solidFill>
            <a:prstDash val="solid"/>
          </a:ln>
        </p:spPr>
      </p:sp>
      <p:sp>
        <p:nvSpPr>
          <p:cNvPr id="4" name="rule-64-676">
            <a:extLst xmlns:a="http://schemas.openxmlformats.org/drawingml/2006/main">
              <a:ext uri="{FF2B5EF4-FFF2-40B4-BE49-F238E27FC236}">
                <a16:creationId xmlns:a16="http://schemas.microsoft.com/office/drawing/2014/main" id="{ACE8BDED-F191-481A-B7DD-4B8F73E869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5" name="footer-date">
            <a:extLst xmlns:a="http://schemas.openxmlformats.org/drawingml/2006/main">
              <a:ext uri="{FF2B5EF4-FFF2-40B4-BE49-F238E27FC236}">
                <a16:creationId xmlns:a16="http://schemas.microsoft.com/office/drawing/2014/main" id="{213DB88E-88C0-4D4B-9380-3244B2ECA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6761"/>
                </a:solidFill>
              </a:defRPr>
            </a:pPr>
            <a:r>
              <a:rPr sz="825" b="0">
                <a:solidFill>
                  <a:srgbClr val="666761"/>
                </a:solidFill>
              </a:rPr>
              <a:t>June 29, 2026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B96256DB-72AA-47CF-9E06-187F293B6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6761"/>
                </a:solidFill>
              </a:defRPr>
            </a:pPr>
            <a:r>
              <a:rPr sz="825" b="0">
                <a:solidFill>
                  <a:srgbClr val="666761"/>
                </a:solidFill>
              </a:rPr>
              <a:t>5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CCE506FF-4A75-4F72-9D8D-D81BF6995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B33"/>
                </a:solidFill>
              </a:defRPr>
            </a:pPr>
            <a:r>
              <a:rPr sz="2850" b="1">
                <a:solidFill>
                  <a:srgbClr val="173B33"/>
                </a:solidFill>
              </a:rPr>
              <a:t>Northline cold storage</a:t>
            </a:r>
          </a:p>
        </p:txBody>
      </p:sp>
      <p:sp>
        <p:nvSpPr>
          <p:cNvPr id="8" name="num-0">
            <a:extLst xmlns:a="http://schemas.openxmlformats.org/drawingml/2006/main">
              <a:ext uri="{FF2B5EF4-FFF2-40B4-BE49-F238E27FC236}">
                <a16:creationId xmlns:a16="http://schemas.microsoft.com/office/drawing/2014/main" id="{DEC36D40-6010-4274-BBAB-74B5D395B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90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01</a:t>
            </a:r>
          </a:p>
        </p:txBody>
      </p:sp>
      <p:sp>
        <p:nvSpPr>
          <p:cNvPr id="9" name="bullet-0">
            <a:extLst xmlns:a="http://schemas.openxmlformats.org/drawingml/2006/main">
              <a:ext uri="{FF2B5EF4-FFF2-40B4-BE49-F238E27FC236}">
                <a16:creationId xmlns:a16="http://schemas.microsoft.com/office/drawing/2014/main" id="{F44DF633-7C11-45F8-9B2C-F932BE1C04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90700"/>
            <a:ext cx="5829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Backcharge dispute</a:t>
            </a:r>
          </a:p>
        </p:txBody>
      </p:sp>
      <p:sp>
        <p:nvSpPr>
          <p:cNvPr id="10" name="rule-118-236">
            <a:extLst xmlns:a="http://schemas.openxmlformats.org/drawingml/2006/main">
              <a:ext uri="{FF2B5EF4-FFF2-40B4-BE49-F238E27FC236}">
                <a16:creationId xmlns:a16="http://schemas.microsoft.com/office/drawing/2014/main" id="{54F1587C-7956-4D03-A947-C29338A3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247900"/>
            <a:ext cx="5829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11" name="num-1">
            <a:extLst xmlns:a="http://schemas.openxmlformats.org/drawingml/2006/main">
              <a:ext uri="{FF2B5EF4-FFF2-40B4-BE49-F238E27FC236}">
                <a16:creationId xmlns:a16="http://schemas.microsoft.com/office/drawing/2014/main" id="{BB17DAA7-B61B-4E3F-AE73-3345D69B1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02</a:t>
            </a:r>
          </a:p>
        </p:txBody>
      </p:sp>
      <p:sp>
        <p:nvSpPr>
          <p:cNvPr id="12" name="bullet-1">
            <a:extLst xmlns:a="http://schemas.openxmlformats.org/drawingml/2006/main">
              <a:ext uri="{FF2B5EF4-FFF2-40B4-BE49-F238E27FC236}">
                <a16:creationId xmlns:a16="http://schemas.microsoft.com/office/drawing/2014/main" id="{12347F54-099F-4E2D-9318-D327AA8DF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533650"/>
            <a:ext cx="5829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Subcontractor response</a:t>
            </a:r>
          </a:p>
        </p:txBody>
      </p:sp>
      <p:sp>
        <p:nvSpPr>
          <p:cNvPr id="13" name="rule-118-314">
            <a:extLst xmlns:a="http://schemas.openxmlformats.org/drawingml/2006/main">
              <a:ext uri="{FF2B5EF4-FFF2-40B4-BE49-F238E27FC236}">
                <a16:creationId xmlns:a16="http://schemas.microsoft.com/office/drawing/2014/main" id="{F394AE99-BC3D-47A8-A14F-279E29824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990850"/>
            <a:ext cx="5829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14" name="num-2">
            <a:extLst xmlns:a="http://schemas.openxmlformats.org/drawingml/2006/main">
              <a:ext uri="{FF2B5EF4-FFF2-40B4-BE49-F238E27FC236}">
                <a16:creationId xmlns:a16="http://schemas.microsoft.com/office/drawing/2014/main" id="{409803E1-193F-46DD-9C90-E55E937168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76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03</a:t>
            </a:r>
          </a:p>
        </p:txBody>
      </p:sp>
      <p:sp>
        <p:nvSpPr>
          <p:cNvPr id="15" name="bullet-2">
            <a:extLst xmlns:a="http://schemas.openxmlformats.org/drawingml/2006/main">
              <a:ext uri="{FF2B5EF4-FFF2-40B4-BE49-F238E27FC236}">
                <a16:creationId xmlns:a16="http://schemas.microsoft.com/office/drawing/2014/main" id="{2534F64D-553F-4E05-83D8-B79EA0E50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276600"/>
            <a:ext cx="5829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Rework productivity</a:t>
            </a:r>
          </a:p>
        </p:txBody>
      </p:sp>
      <p:sp>
        <p:nvSpPr>
          <p:cNvPr id="16" name="rule-118-392">
            <a:extLst xmlns:a="http://schemas.openxmlformats.org/drawingml/2006/main">
              <a:ext uri="{FF2B5EF4-FFF2-40B4-BE49-F238E27FC236}">
                <a16:creationId xmlns:a16="http://schemas.microsoft.com/office/drawing/2014/main" id="{9F6E9EE7-63B9-4D28-96AD-65E271916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733800"/>
            <a:ext cx="58293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17" name="num-3">
            <a:extLst xmlns:a="http://schemas.openxmlformats.org/drawingml/2006/main">
              <a:ext uri="{FF2B5EF4-FFF2-40B4-BE49-F238E27FC236}">
                <a16:creationId xmlns:a16="http://schemas.microsoft.com/office/drawing/2014/main" id="{F2FDBF60-7CFD-4DAE-A2DD-E008CB4CDD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019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04</a:t>
            </a:r>
          </a:p>
        </p:txBody>
      </p:sp>
      <p:sp>
        <p:nvSpPr>
          <p:cNvPr id="18" name="bullet-3">
            <a:extLst xmlns:a="http://schemas.openxmlformats.org/drawingml/2006/main">
              <a:ext uri="{FF2B5EF4-FFF2-40B4-BE49-F238E27FC236}">
                <a16:creationId xmlns:a16="http://schemas.microsoft.com/office/drawing/2014/main" id="{85FAABE1-1B8E-43B0-8E91-08B549BF6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4019550"/>
            <a:ext cx="58293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Remaining closeout</a:t>
            </a:r>
          </a:p>
        </p:txBody>
      </p:sp>
      <p:sp>
        <p:nvSpPr>
          <p:cNvPr id="19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675FFA0E-405C-476B-83E7-2BFA9355B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1885950"/>
            <a:ext cx="323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66761"/>
                </a:solidFill>
              </a:defRPr>
            </a:pPr>
            <a:r>
              <a:rPr sz="900" b="1">
                <a:solidFill>
                  <a:srgbClr val="666761"/>
                </a:solidFill>
              </a:rPr>
              <a:t>RECOVERY CLAIM</a:t>
            </a:r>
          </a:p>
        </p:txBody>
      </p:sp>
      <p:sp>
        <p:nvSpPr>
          <p:cNvPr id="20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63EC005D-D1E7-47B7-AD22-925BE0B1E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152650"/>
            <a:ext cx="32385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800" b="1">
                <a:solidFill>
                  <a:srgbClr val="173B33"/>
                </a:solidFill>
              </a:defRPr>
            </a:pPr>
            <a:r>
              <a:rPr sz="4800" b="1">
                <a:solidFill>
                  <a:srgbClr val="173B33"/>
                </a:solidFill>
              </a:rPr>
              <a:t>$185k</a:t>
            </a:r>
          </a:p>
        </p:txBody>
      </p:sp>
      <p:sp>
        <p:nvSpPr>
          <p:cNvPr id="21" name="rule-820-320">
            <a:extLst xmlns:a="http://schemas.openxmlformats.org/drawingml/2006/main">
              <a:ext uri="{FF2B5EF4-FFF2-40B4-BE49-F238E27FC236}">
                <a16:creationId xmlns:a16="http://schemas.microsoft.com/office/drawing/2014/main" id="{8B9E160D-BE14-44FF-AA83-EE7F68BD4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04800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4B3"/>
          </a:solidFill>
          <a:ln xmlns:a="http://schemas.openxmlformats.org/drawingml/2006/main" w="0">
            <a:solidFill>
              <a:srgbClr val="CFC4B3"/>
            </a:solidFill>
            <a:prstDash val="solid"/>
          </a:ln>
        </p:spPr>
      </p:sp>
      <p:sp>
        <p:nvSpPr>
          <p:cNvPr id="22" name="metric-note">
            <a:extLst xmlns:a="http://schemas.openxmlformats.org/drawingml/2006/main">
              <a:ext uri="{FF2B5EF4-FFF2-40B4-BE49-F238E27FC236}">
                <a16:creationId xmlns:a16="http://schemas.microsoft.com/office/drawing/2014/main" id="{E7FC516C-DA12-4FC7-ACD4-148CD81DF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276600"/>
            <a:ext cx="3238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52725"/>
                </a:solidFill>
              </a:defRPr>
            </a:pPr>
            <a:r>
              <a:rPr sz="1275" b="0">
                <a:solidFill>
                  <a:srgbClr val="252725"/>
                </a:solidFill>
              </a:rPr>
              <a:t>Concrete-trade response disputes causation; the current commercial working file controls.</a:t>
            </a:r>
          </a:p>
        </p:txBody>
      </p:sp>
    </p:spTree>
    <p:extLst>
      <p:ext uri="{BB962C8B-B14F-4D97-AF65-F5344CB8AC3E}">
        <p14:creationId xmlns:p14="http://schemas.microsoft.com/office/powerpoint/2010/main" val="65853510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eyebrow">
            <a:extLst xmlns:a="http://schemas.openxmlformats.org/drawingml/2006/main">
              <a:ext uri="{FF2B5EF4-FFF2-40B4-BE49-F238E27FC236}">
                <a16:creationId xmlns:a16="http://schemas.microsoft.com/office/drawing/2014/main" id="{81B7184C-3991-4228-B4C5-664AE923AA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3B33"/>
                </a:solidFill>
              </a:defRPr>
            </a:pPr>
            <a:r>
              <a:rPr sz="900" b="1">
                <a:solidFill>
                  <a:srgbClr val="173B33"/>
                </a:solidFill>
              </a:rPr>
              <a:t>WEEKLY MAJOR JOBS REVIEW</a:t>
            </a:r>
          </a:p>
        </p:txBody>
      </p:sp>
      <p:sp>
        <p:nvSpPr>
          <p:cNvPr id="2" name="status">
            <a:extLst xmlns:a="http://schemas.openxmlformats.org/drawingml/2006/main">
              <a:ext uri="{FF2B5EF4-FFF2-40B4-BE49-F238E27FC236}">
                <a16:creationId xmlns:a16="http://schemas.microsoft.com/office/drawing/2014/main" id="{B3019953-4495-47B5-B3D7-18F851586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"/>
            <a:ext cx="320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66761"/>
                </a:solidFill>
              </a:defRPr>
            </a:pPr>
            <a:r>
              <a:rPr sz="900" b="1">
                <a:solidFill>
                  <a:srgbClr val="666761"/>
                </a:solidFill>
              </a:rPr>
              <a:t>PM WORKING COPY</a:t>
            </a:r>
          </a:p>
        </p:txBody>
      </p:sp>
      <p:sp>
        <p:nvSpPr>
          <p:cNvPr id="3" name="rule-64-62">
            <a:extLst xmlns:a="http://schemas.openxmlformats.org/drawingml/2006/main">
              <a:ext uri="{FF2B5EF4-FFF2-40B4-BE49-F238E27FC236}">
                <a16:creationId xmlns:a16="http://schemas.microsoft.com/office/drawing/2014/main" id="{FD9474CB-74CA-4A9E-A112-06EBE962C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33"/>
          </a:solidFill>
          <a:ln xmlns:a="http://schemas.openxmlformats.org/drawingml/2006/main" w="0">
            <a:solidFill>
              <a:srgbClr val="173B33"/>
            </a:solidFill>
            <a:prstDash val="solid"/>
          </a:ln>
        </p:spPr>
      </p:sp>
      <p:sp>
        <p:nvSpPr>
          <p:cNvPr id="4" name="rule-64-676">
            <a:extLst xmlns:a="http://schemas.openxmlformats.org/drawingml/2006/main">
              <a:ext uri="{FF2B5EF4-FFF2-40B4-BE49-F238E27FC236}">
                <a16:creationId xmlns:a16="http://schemas.microsoft.com/office/drawing/2014/main" id="{99C16A6D-F538-4191-9FDB-36F3D2890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5" name="footer-date">
            <a:extLst xmlns:a="http://schemas.openxmlformats.org/drawingml/2006/main">
              <a:ext uri="{FF2B5EF4-FFF2-40B4-BE49-F238E27FC236}">
                <a16:creationId xmlns:a16="http://schemas.microsoft.com/office/drawing/2014/main" id="{CAD94321-70FD-490B-A298-4FE316254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6761"/>
                </a:solidFill>
              </a:defRPr>
            </a:pPr>
            <a:r>
              <a:rPr sz="825" b="0">
                <a:solidFill>
                  <a:srgbClr val="666761"/>
                </a:solidFill>
              </a:rPr>
              <a:t>June 29, 2026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C4FB655B-D0C4-4BD4-B467-5E3406D7C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6761"/>
                </a:solidFill>
              </a:defRPr>
            </a:pPr>
            <a:r>
              <a:rPr sz="825" b="0">
                <a:solidFill>
                  <a:srgbClr val="666761"/>
                </a:solidFill>
              </a:rPr>
              <a:t>6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E57EFF22-DEC2-4381-924F-5B4F36998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B33"/>
                </a:solidFill>
              </a:defRPr>
            </a:pPr>
            <a:r>
              <a:rPr sz="2850" b="1">
                <a:solidFill>
                  <a:srgbClr val="173B33"/>
                </a:solidFill>
              </a:rPr>
              <a:t>Columbia biologics closeout</a:t>
            </a:r>
          </a:p>
        </p:txBody>
      </p:sp>
      <p:sp>
        <p:nvSpPr>
          <p:cNvPr id="8" name="metric-label">
            <a:extLst xmlns:a="http://schemas.openxmlformats.org/drawingml/2006/main">
              <a:ext uri="{FF2B5EF4-FFF2-40B4-BE49-F238E27FC236}">
                <a16:creationId xmlns:a16="http://schemas.microsoft.com/office/drawing/2014/main" id="{AE46D366-EBC2-4E46-8B82-8D28B6C0C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790700"/>
            <a:ext cx="3333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666761"/>
                </a:solidFill>
              </a:defRPr>
            </a:pPr>
            <a:r>
              <a:rPr sz="900" b="1">
                <a:solidFill>
                  <a:srgbClr val="666761"/>
                </a:solidFill>
              </a:rPr>
              <a:t>OPEN AR AT RISK</a:t>
            </a:r>
          </a:p>
        </p:txBody>
      </p:sp>
      <p:sp>
        <p:nvSpPr>
          <p:cNvPr id="9" name="metric-value">
            <a:extLst xmlns:a="http://schemas.openxmlformats.org/drawingml/2006/main">
              <a:ext uri="{FF2B5EF4-FFF2-40B4-BE49-F238E27FC236}">
                <a16:creationId xmlns:a16="http://schemas.microsoft.com/office/drawing/2014/main" id="{4DB3F938-8578-45D8-BFE5-1683A37D9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57400"/>
            <a:ext cx="33337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350" b="1">
                <a:solidFill>
                  <a:srgbClr val="173B33"/>
                </a:solidFill>
              </a:defRPr>
            </a:pPr>
            <a:r>
              <a:rPr sz="4350" b="1">
                <a:solidFill>
                  <a:srgbClr val="173B33"/>
                </a:solidFill>
              </a:rPr>
              <a:t>$1.2m</a:t>
            </a:r>
          </a:p>
        </p:txBody>
      </p:sp>
      <p:sp>
        <p:nvSpPr>
          <p:cNvPr id="10" name="rule-68-310">
            <a:extLst xmlns:a="http://schemas.openxmlformats.org/drawingml/2006/main">
              <a:ext uri="{FF2B5EF4-FFF2-40B4-BE49-F238E27FC236}">
                <a16:creationId xmlns:a16="http://schemas.microsoft.com/office/drawing/2014/main" id="{4319A510-F657-41E4-A795-01ABD815AB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52750"/>
            <a:ext cx="66675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FC4B3"/>
          </a:solidFill>
          <a:ln xmlns:a="http://schemas.openxmlformats.org/drawingml/2006/main" w="0">
            <a:solidFill>
              <a:srgbClr val="CFC4B3"/>
            </a:solidFill>
            <a:prstDash val="solid"/>
          </a:ln>
        </p:spPr>
      </p:sp>
      <p:sp>
        <p:nvSpPr>
          <p:cNvPr id="11" name="metric-note">
            <a:extLst xmlns:a="http://schemas.openxmlformats.org/drawingml/2006/main">
              <a:ext uri="{FF2B5EF4-FFF2-40B4-BE49-F238E27FC236}">
                <a16:creationId xmlns:a16="http://schemas.microsoft.com/office/drawing/2014/main" id="{B15116D0-FE4A-4367-90A4-7DFB5DEE2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181350"/>
            <a:ext cx="333375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0">
                <a:solidFill>
                  <a:srgbClr val="252725"/>
                </a:solidFill>
              </a:defRPr>
            </a:pPr>
            <a:r>
              <a:rPr sz="1275" b="0">
                <a:solidFill>
                  <a:srgbClr val="252725"/>
                </a:solidFill>
              </a:rPr>
              <a:t>Closeout receipts remain outside July base cash until evidence improves.</a:t>
            </a:r>
          </a:p>
        </p:txBody>
      </p:sp>
      <p:sp>
        <p:nvSpPr>
          <p:cNvPr id="12" name="num-0">
            <a:extLst xmlns:a="http://schemas.openxmlformats.org/drawingml/2006/main">
              <a:ext uri="{FF2B5EF4-FFF2-40B4-BE49-F238E27FC236}">
                <a16:creationId xmlns:a16="http://schemas.microsoft.com/office/drawing/2014/main" id="{0D011EC9-3A03-4415-ABC2-A83AE81D1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17335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01</a:t>
            </a:r>
          </a:p>
        </p:txBody>
      </p:sp>
      <p:sp>
        <p:nvSpPr>
          <p:cNvPr id="13" name="bullet-0">
            <a:extLst xmlns:a="http://schemas.openxmlformats.org/drawingml/2006/main">
              <a:ext uri="{FF2B5EF4-FFF2-40B4-BE49-F238E27FC236}">
                <a16:creationId xmlns:a16="http://schemas.microsoft.com/office/drawing/2014/main" id="{2B68FD8F-EC62-4F72-880E-37AC7EE70D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733550"/>
            <a:ext cx="5734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Validation package</a:t>
            </a:r>
          </a:p>
        </p:txBody>
      </p:sp>
      <p:sp>
        <p:nvSpPr>
          <p:cNvPr id="14" name="rule-558-230">
            <a:extLst xmlns:a="http://schemas.openxmlformats.org/drawingml/2006/main">
              <a:ext uri="{FF2B5EF4-FFF2-40B4-BE49-F238E27FC236}">
                <a16:creationId xmlns:a16="http://schemas.microsoft.com/office/drawing/2014/main" id="{18C0FD87-D1A4-4B26-91EC-4E31E2EE28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190750"/>
            <a:ext cx="5734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15" name="num-1">
            <a:extLst xmlns:a="http://schemas.openxmlformats.org/drawingml/2006/main">
              <a:ext uri="{FF2B5EF4-FFF2-40B4-BE49-F238E27FC236}">
                <a16:creationId xmlns:a16="http://schemas.microsoft.com/office/drawing/2014/main" id="{B166B605-EB31-49CA-BDD1-40447F180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2514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02</a:t>
            </a:r>
          </a:p>
        </p:txBody>
      </p:sp>
      <p:sp>
        <p:nvSpPr>
          <p:cNvPr id="16" name="bullet-1">
            <a:extLst xmlns:a="http://schemas.openxmlformats.org/drawingml/2006/main">
              <a:ext uri="{FF2B5EF4-FFF2-40B4-BE49-F238E27FC236}">
                <a16:creationId xmlns:a16="http://schemas.microsoft.com/office/drawing/2014/main" id="{7BA2AEDB-444E-42FC-AF14-6FA301BE2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514600"/>
            <a:ext cx="5734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Retainage</a:t>
            </a:r>
          </a:p>
        </p:txBody>
      </p:sp>
      <p:sp>
        <p:nvSpPr>
          <p:cNvPr id="17" name="rule-558-312">
            <a:extLst xmlns:a="http://schemas.openxmlformats.org/drawingml/2006/main">
              <a:ext uri="{FF2B5EF4-FFF2-40B4-BE49-F238E27FC236}">
                <a16:creationId xmlns:a16="http://schemas.microsoft.com/office/drawing/2014/main" id="{A24D7D51-5152-460B-8AC9-3881D74173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971800"/>
            <a:ext cx="5734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18" name="num-2">
            <a:extLst xmlns:a="http://schemas.openxmlformats.org/drawingml/2006/main">
              <a:ext uri="{FF2B5EF4-FFF2-40B4-BE49-F238E27FC236}">
                <a16:creationId xmlns:a16="http://schemas.microsoft.com/office/drawing/2014/main" id="{9AA954E6-A2B3-44BE-89AE-2A42469CD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2956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03</a:t>
            </a:r>
          </a:p>
        </p:txBody>
      </p:sp>
      <p:sp>
        <p:nvSpPr>
          <p:cNvPr id="19" name="bullet-2">
            <a:extLst xmlns:a="http://schemas.openxmlformats.org/drawingml/2006/main">
              <a:ext uri="{FF2B5EF4-FFF2-40B4-BE49-F238E27FC236}">
                <a16:creationId xmlns:a16="http://schemas.microsoft.com/office/drawing/2014/main" id="{A89AE2AA-C620-4D6E-B3B7-8F2A5F769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295650"/>
            <a:ext cx="5734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Customer dispute</a:t>
            </a:r>
          </a:p>
        </p:txBody>
      </p:sp>
      <p:sp>
        <p:nvSpPr>
          <p:cNvPr id="20" name="rule-558-394">
            <a:extLst xmlns:a="http://schemas.openxmlformats.org/drawingml/2006/main">
              <a:ext uri="{FF2B5EF4-FFF2-40B4-BE49-F238E27FC236}">
                <a16:creationId xmlns:a16="http://schemas.microsoft.com/office/drawing/2014/main" id="{56F07A8C-F3A0-4927-A185-9423B440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3752850"/>
            <a:ext cx="57340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21" name="num-3">
            <a:extLst xmlns:a="http://schemas.openxmlformats.org/drawingml/2006/main">
              <a:ext uri="{FF2B5EF4-FFF2-40B4-BE49-F238E27FC236}">
                <a16:creationId xmlns:a16="http://schemas.microsoft.com/office/drawing/2014/main" id="{493A42D6-FF01-46C3-86D1-25239D6DD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40767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04</a:t>
            </a:r>
          </a:p>
        </p:txBody>
      </p:sp>
      <p:sp>
        <p:nvSpPr>
          <p:cNvPr id="22" name="bullet-3">
            <a:extLst xmlns:a="http://schemas.openxmlformats.org/drawingml/2006/main">
              <a:ext uri="{FF2B5EF4-FFF2-40B4-BE49-F238E27FC236}">
                <a16:creationId xmlns:a16="http://schemas.microsoft.com/office/drawing/2014/main" id="{FD1CAD09-BC13-48C0-8164-9D4DA3B4DC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076700"/>
            <a:ext cx="57340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Warranty transition</a:t>
            </a:r>
          </a:p>
        </p:txBody>
      </p:sp>
    </p:spTree>
    <p:extLst>
      <p:ext uri="{BB962C8B-B14F-4D97-AF65-F5344CB8AC3E}">
        <p14:creationId xmlns:p14="http://schemas.microsoft.com/office/powerpoint/2010/main" val="69058371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eyebrow">
            <a:extLst xmlns:a="http://schemas.openxmlformats.org/drawingml/2006/main">
              <a:ext uri="{FF2B5EF4-FFF2-40B4-BE49-F238E27FC236}">
                <a16:creationId xmlns:a16="http://schemas.microsoft.com/office/drawing/2014/main" id="{0FCE540C-CADD-49E9-BDB4-EAE3703F5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85750"/>
            <a:ext cx="5715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00" b="1">
                <a:solidFill>
                  <a:srgbClr val="173B33"/>
                </a:solidFill>
              </a:defRPr>
            </a:pPr>
            <a:r>
              <a:rPr sz="900" b="1">
                <a:solidFill>
                  <a:srgbClr val="173B33"/>
                </a:solidFill>
              </a:rPr>
              <a:t>WEEKLY MAJOR JOBS REVIEW</a:t>
            </a:r>
          </a:p>
        </p:txBody>
      </p:sp>
      <p:sp>
        <p:nvSpPr>
          <p:cNvPr id="2" name="status">
            <a:extLst xmlns:a="http://schemas.openxmlformats.org/drawingml/2006/main">
              <a:ext uri="{FF2B5EF4-FFF2-40B4-BE49-F238E27FC236}">
                <a16:creationId xmlns:a16="http://schemas.microsoft.com/office/drawing/2014/main" id="{EF8A01DC-1B04-4C58-90FD-D91C860B2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85750"/>
            <a:ext cx="3200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66761"/>
                </a:solidFill>
              </a:defRPr>
            </a:pPr>
            <a:r>
              <a:rPr sz="900" b="1">
                <a:solidFill>
                  <a:srgbClr val="666761"/>
                </a:solidFill>
              </a:rPr>
              <a:t>PM WORKING COPY</a:t>
            </a:r>
          </a:p>
        </p:txBody>
      </p:sp>
      <p:sp>
        <p:nvSpPr>
          <p:cNvPr id="3" name="rule-64-62">
            <a:extLst xmlns:a="http://schemas.openxmlformats.org/drawingml/2006/main">
              <a:ext uri="{FF2B5EF4-FFF2-40B4-BE49-F238E27FC236}">
                <a16:creationId xmlns:a16="http://schemas.microsoft.com/office/drawing/2014/main" id="{F3E1E6DE-6503-4CB9-ADF7-A96B5459F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"/>
            <a:ext cx="10972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73B33"/>
          </a:solidFill>
          <a:ln xmlns:a="http://schemas.openxmlformats.org/drawingml/2006/main" w="0">
            <a:solidFill>
              <a:srgbClr val="173B33"/>
            </a:solidFill>
            <a:prstDash val="solid"/>
          </a:ln>
        </p:spPr>
      </p:sp>
      <p:sp>
        <p:nvSpPr>
          <p:cNvPr id="4" name="rule-64-676">
            <a:extLst xmlns:a="http://schemas.openxmlformats.org/drawingml/2006/main">
              <a:ext uri="{FF2B5EF4-FFF2-40B4-BE49-F238E27FC236}">
                <a16:creationId xmlns:a16="http://schemas.microsoft.com/office/drawing/2014/main" id="{6BEFE7D7-2A67-4291-99A2-648C51CD8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389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5" name="footer-date">
            <a:extLst xmlns:a="http://schemas.openxmlformats.org/drawingml/2006/main">
              <a:ext uri="{FF2B5EF4-FFF2-40B4-BE49-F238E27FC236}">
                <a16:creationId xmlns:a16="http://schemas.microsoft.com/office/drawing/2014/main" id="{5CDEC854-2362-46AF-B71A-719FE1B41C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515100"/>
            <a:ext cx="3810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66761"/>
                </a:solidFill>
              </a:defRPr>
            </a:pPr>
            <a:r>
              <a:rPr sz="825" b="0">
                <a:solidFill>
                  <a:srgbClr val="666761"/>
                </a:solidFill>
              </a:rPr>
              <a:t>June 29, 2026</a:t>
            </a:r>
          </a:p>
        </p:txBody>
      </p:sp>
      <p:sp>
        <p:nvSpPr>
          <p:cNvPr id="6" name="footer-number">
            <a:extLst xmlns:a="http://schemas.openxmlformats.org/drawingml/2006/main">
              <a:ext uri="{FF2B5EF4-FFF2-40B4-BE49-F238E27FC236}">
                <a16:creationId xmlns:a16="http://schemas.microsoft.com/office/drawing/2014/main" id="{953E147C-86A8-4D9C-BB55-4EFC1B265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5334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66761"/>
                </a:solidFill>
              </a:defRPr>
            </a:pPr>
            <a:r>
              <a:rPr sz="825" b="0">
                <a:solidFill>
                  <a:srgbClr val="666761"/>
                </a:solidFill>
              </a:rPr>
              <a:t>7</a:t>
            </a:r>
          </a:p>
        </p:txBody>
      </p:sp>
      <p:sp>
        <p:nvSpPr>
          <p:cNvPr id="7" name="title">
            <a:extLst xmlns:a="http://schemas.openxmlformats.org/drawingml/2006/main">
              <a:ext uri="{FF2B5EF4-FFF2-40B4-BE49-F238E27FC236}">
                <a16:creationId xmlns:a16="http://schemas.microsoft.com/office/drawing/2014/main" id="{B005D077-0C92-4748-AC20-7AC996F19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57250"/>
            <a:ext cx="95250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850" b="1">
                <a:solidFill>
                  <a:srgbClr val="173B33"/>
                </a:solidFill>
              </a:defRPr>
            </a:pPr>
            <a:r>
              <a:rPr sz="2850" b="1">
                <a:solidFill>
                  <a:srgbClr val="173B33"/>
                </a:solidFill>
              </a:rPr>
              <a:t>Decisions and follow-up</a:t>
            </a:r>
          </a:p>
        </p:txBody>
      </p:sp>
      <p:sp>
        <p:nvSpPr>
          <p:cNvPr id="8" name="metric-inline-label">
            <a:extLst xmlns:a="http://schemas.openxmlformats.org/drawingml/2006/main">
              <a:ext uri="{FF2B5EF4-FFF2-40B4-BE49-F238E27FC236}">
                <a16:creationId xmlns:a16="http://schemas.microsoft.com/office/drawing/2014/main" id="{8CEA6126-1AD5-433D-9CCE-36BCBCC01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981075"/>
            <a:ext cx="1905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666761"/>
                </a:solidFill>
              </a:defRPr>
            </a:pPr>
            <a:r>
              <a:rPr sz="900" b="1">
                <a:solidFill>
                  <a:srgbClr val="666761"/>
                </a:solidFill>
              </a:rPr>
              <a:t>OPEN ACTIONS</a:t>
            </a:r>
          </a:p>
        </p:txBody>
      </p:sp>
      <p:sp>
        <p:nvSpPr>
          <p:cNvPr id="9" name="metric-inline-value">
            <a:extLst xmlns:a="http://schemas.openxmlformats.org/drawingml/2006/main">
              <a:ext uri="{FF2B5EF4-FFF2-40B4-BE49-F238E27FC236}">
                <a16:creationId xmlns:a16="http://schemas.microsoft.com/office/drawing/2014/main" id="{6E8C18B1-B15D-4568-A75F-67578FC6A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63125" y="838200"/>
            <a:ext cx="18097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3150" b="1">
                <a:solidFill>
                  <a:srgbClr val="173B33"/>
                </a:solidFill>
              </a:defRPr>
            </a:pPr>
            <a:r>
              <a:rPr sz="3150" b="1">
                <a:solidFill>
                  <a:srgbClr val="173B33"/>
                </a:solidFill>
              </a:rPr>
              <a:t>12</a:t>
            </a:r>
          </a:p>
        </p:txBody>
      </p:sp>
      <p:sp>
        <p:nvSpPr>
          <p:cNvPr id="10" name="rule-64-160">
            <a:extLst xmlns:a="http://schemas.openxmlformats.org/drawingml/2006/main">
              <a:ext uri="{FF2B5EF4-FFF2-40B4-BE49-F238E27FC236}">
                <a16:creationId xmlns:a16="http://schemas.microsoft.com/office/drawing/2014/main" id="{CEAD90BA-BC8D-4DB8-8CE2-279669299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0972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11" name="num-0">
            <a:extLst xmlns:a="http://schemas.openxmlformats.org/drawingml/2006/main">
              <a:ext uri="{FF2B5EF4-FFF2-40B4-BE49-F238E27FC236}">
                <a16:creationId xmlns:a16="http://schemas.microsoft.com/office/drawing/2014/main" id="{50AF6533-C215-4386-BE3D-9FFA61A7A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0193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01</a:t>
            </a:r>
          </a:p>
        </p:txBody>
      </p:sp>
      <p:sp>
        <p:nvSpPr>
          <p:cNvPr id="12" name="bullet-0">
            <a:extLst xmlns:a="http://schemas.openxmlformats.org/drawingml/2006/main">
              <a:ext uri="{FF2B5EF4-FFF2-40B4-BE49-F238E27FC236}">
                <a16:creationId xmlns:a16="http://schemas.microsoft.com/office/drawing/2014/main" id="{412AE100-F350-4CFF-8EE1-C05569047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019300"/>
            <a:ext cx="868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EAC owner responses</a:t>
            </a:r>
          </a:p>
        </p:txBody>
      </p:sp>
      <p:sp>
        <p:nvSpPr>
          <p:cNvPr id="13" name="rule-208-260">
            <a:extLst xmlns:a="http://schemas.openxmlformats.org/drawingml/2006/main">
              <a:ext uri="{FF2B5EF4-FFF2-40B4-BE49-F238E27FC236}">
                <a16:creationId xmlns:a16="http://schemas.microsoft.com/office/drawing/2014/main" id="{1A9D3DE6-5A6B-4A75-B2B7-DAB63E907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476500"/>
            <a:ext cx="8686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14" name="num-1">
            <a:extLst xmlns:a="http://schemas.openxmlformats.org/drawingml/2006/main">
              <a:ext uri="{FF2B5EF4-FFF2-40B4-BE49-F238E27FC236}">
                <a16:creationId xmlns:a16="http://schemas.microsoft.com/office/drawing/2014/main" id="{21EB09D6-D5AB-455C-9BFA-F8B330C57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28384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02</a:t>
            </a:r>
          </a:p>
        </p:txBody>
      </p:sp>
      <p:sp>
        <p:nvSpPr>
          <p:cNvPr id="15" name="bullet-1">
            <a:extLst xmlns:a="http://schemas.openxmlformats.org/drawingml/2006/main">
              <a:ext uri="{FF2B5EF4-FFF2-40B4-BE49-F238E27FC236}">
                <a16:creationId xmlns:a16="http://schemas.microsoft.com/office/drawing/2014/main" id="{CA0D2242-F85E-4A89-9FC0-C1E2E0AE3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2838450"/>
            <a:ext cx="868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Commercial notices</a:t>
            </a:r>
          </a:p>
        </p:txBody>
      </p:sp>
      <p:sp>
        <p:nvSpPr>
          <p:cNvPr id="16" name="rule-208-346">
            <a:extLst xmlns:a="http://schemas.openxmlformats.org/drawingml/2006/main">
              <a:ext uri="{FF2B5EF4-FFF2-40B4-BE49-F238E27FC236}">
                <a16:creationId xmlns:a16="http://schemas.microsoft.com/office/drawing/2014/main" id="{66E3A3F5-757D-481E-AA4D-B4FE3EA708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295650"/>
            <a:ext cx="8686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17" name="num-2">
            <a:extLst xmlns:a="http://schemas.openxmlformats.org/drawingml/2006/main">
              <a:ext uri="{FF2B5EF4-FFF2-40B4-BE49-F238E27FC236}">
                <a16:creationId xmlns:a16="http://schemas.microsoft.com/office/drawing/2014/main" id="{8612644D-9FBA-4940-BD4C-4F8198CB1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365760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03</a:t>
            </a:r>
          </a:p>
        </p:txBody>
      </p:sp>
      <p:sp>
        <p:nvSpPr>
          <p:cNvPr id="18" name="bullet-2">
            <a:extLst xmlns:a="http://schemas.openxmlformats.org/drawingml/2006/main">
              <a:ext uri="{FF2B5EF4-FFF2-40B4-BE49-F238E27FC236}">
                <a16:creationId xmlns:a16="http://schemas.microsoft.com/office/drawing/2014/main" id="{E052D3B2-6ACC-463C-B2CF-3FEE9E8D6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657600"/>
            <a:ext cx="868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Billing actions</a:t>
            </a:r>
          </a:p>
        </p:txBody>
      </p:sp>
      <p:sp>
        <p:nvSpPr>
          <p:cNvPr id="19" name="rule-208-432">
            <a:extLst xmlns:a="http://schemas.openxmlformats.org/drawingml/2006/main">
              <a:ext uri="{FF2B5EF4-FFF2-40B4-BE49-F238E27FC236}">
                <a16:creationId xmlns:a16="http://schemas.microsoft.com/office/drawing/2014/main" id="{B922DADC-6830-46A1-AB23-4C0214302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114800"/>
            <a:ext cx="86868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7BF"/>
          </a:solidFill>
          <a:ln xmlns:a="http://schemas.openxmlformats.org/drawingml/2006/main" w="0">
            <a:solidFill>
              <a:srgbClr val="C9C7BF"/>
            </a:solidFill>
            <a:prstDash val="solid"/>
          </a:ln>
        </p:spPr>
      </p:sp>
      <p:sp>
        <p:nvSpPr>
          <p:cNvPr id="20" name="num-3">
            <a:extLst xmlns:a="http://schemas.openxmlformats.org/drawingml/2006/main">
              <a:ext uri="{FF2B5EF4-FFF2-40B4-BE49-F238E27FC236}">
                <a16:creationId xmlns:a16="http://schemas.microsoft.com/office/drawing/2014/main" id="{655A5D40-6192-42E6-9B73-A4C6E5F1F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476750"/>
            <a:ext cx="3429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66761"/>
                </a:solidFill>
              </a:defRPr>
            </a:pPr>
            <a:r>
              <a:rPr sz="975" b="1">
                <a:solidFill>
                  <a:srgbClr val="666761"/>
                </a:solidFill>
              </a:rPr>
              <a:t>04</a:t>
            </a:r>
          </a:p>
        </p:txBody>
      </p:sp>
      <p:sp>
        <p:nvSpPr>
          <p:cNvPr id="21" name="bullet-3">
            <a:extLst xmlns:a="http://schemas.openxmlformats.org/drawingml/2006/main">
              <a:ext uri="{FF2B5EF4-FFF2-40B4-BE49-F238E27FC236}">
                <a16:creationId xmlns:a16="http://schemas.microsoft.com/office/drawing/2014/main" id="{398A45AF-F06F-41DF-94E9-512DC4C44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4476750"/>
            <a:ext cx="8686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0">
                <a:solidFill>
                  <a:srgbClr val="252725"/>
                </a:solidFill>
              </a:defRPr>
            </a:pPr>
            <a:r>
              <a:rPr sz="1575" b="0">
                <a:solidFill>
                  <a:srgbClr val="252725"/>
                </a:solidFill>
              </a:rPr>
              <a:t>Collection escalations</a:t>
            </a:r>
          </a:p>
        </p:txBody>
      </p:sp>
      <p:sp>
        <p:nvSpPr>
          <p:cNvPr id="22" name="note">
            <a:extLst xmlns:a="http://schemas.openxmlformats.org/drawingml/2006/main">
              <a:ext uri="{FF2B5EF4-FFF2-40B4-BE49-F238E27FC236}">
                <a16:creationId xmlns:a16="http://schemas.microsoft.com/office/drawing/2014/main" id="{52F6CC8A-EE1C-4C3C-87F9-899E1B7A2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467350"/>
            <a:ext cx="8858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666761"/>
                </a:solidFill>
              </a:defRPr>
            </a:pPr>
            <a:r>
              <a:rPr sz="1350" b="0">
                <a:solidFill>
                  <a:srgbClr val="666761"/>
                </a:solidFill>
              </a:rPr>
              <a:t>Finance reconciles final PM updates to system cost and billing after cutoff.</a:t>
            </a:r>
          </a:p>
        </p:txBody>
      </p:sp>
    </p:spTree>
    <p:extLst>
      <p:ext uri="{BB962C8B-B14F-4D97-AF65-F5344CB8AC3E}">
        <p14:creationId xmlns:p14="http://schemas.microsoft.com/office/powerpoint/2010/main" val="150098654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2026-09-02T20:15:24.5560000Z</dcterms:created>
  <dcterms:modified xsi:type="dcterms:W3CDTF">2026-09-02T20:15:24.5560000Z</dcterms:modified>
</coreProperties>
</file>