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fc94a85a543cb" /><Relationship Type="http://schemas.openxmlformats.org/officeDocument/2006/relationships/extended-properties" Target="/docProps/app.xml" Id="Rfde396a210454d8e" /><Relationship Type="http://schemas.openxmlformats.org/officeDocument/2006/relationships/officeDocument" Target="/ppt/presentation.xml" Id="R05fcbcea42ab43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26899b7764812"/>
  </p:sldMasterIdLst>
  <p:notesMasterIdLst>
    <p:notesMasterId xmlns:r="http://schemas.openxmlformats.org/officeDocument/2006/relationships" r:id="Rc6f9db9733744110"/>
  </p:notesMasterIdLst>
  <p:sldIdLst>
    <p:sldId xmlns:r="http://schemas.openxmlformats.org/officeDocument/2006/relationships" id="256" r:id="R239d21d5f7454d61"/>
    <p:sldId xmlns:r="http://schemas.openxmlformats.org/officeDocument/2006/relationships" id="257" r:id="Rece05d28d0454e62"/>
    <p:sldId xmlns:r="http://schemas.openxmlformats.org/officeDocument/2006/relationships" id="258" r:id="R7187917247b946d8"/>
    <p:sldId xmlns:r="http://schemas.openxmlformats.org/officeDocument/2006/relationships" id="259" r:id="R09f9c48760404510"/>
    <p:sldId xmlns:r="http://schemas.openxmlformats.org/officeDocument/2006/relationships" id="260" r:id="R5858e59d03464f70"/>
    <p:sldId xmlns:r="http://schemas.openxmlformats.org/officeDocument/2006/relationships" id="261" r:id="R064e64d01e7544e2"/>
    <p:sldId xmlns:r="http://schemas.openxmlformats.org/officeDocument/2006/relationships" id="262" r:id="Rdfae8e32f0764d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9d14010e014ed7" /><Relationship Type="http://schemas.openxmlformats.org/officeDocument/2006/relationships/slideMaster" Target="/ppt/slideMasters/slideMaster1.xml" Id="R71e26899b7764812" /><Relationship Type="http://schemas.openxmlformats.org/officeDocument/2006/relationships/notesMaster" Target="/ppt/notesMasters/notesMaster1.xml" Id="Rc6f9db9733744110" /><Relationship Type="http://schemas.openxmlformats.org/officeDocument/2006/relationships/presProps" Target="/ppt/presProps.xml" Id="Re29eaea1feb2406c" /><Relationship Type="http://schemas.openxmlformats.org/officeDocument/2006/relationships/tableStyles" Target="/ppt/tableStyles.xml" Id="R17029303c7b84610" /><Relationship Type="http://schemas.openxmlformats.org/officeDocument/2006/relationships/slide" Target="/ppt/slides/slide1.xml" Id="R239d21d5f7454d61" /><Relationship Type="http://schemas.openxmlformats.org/officeDocument/2006/relationships/slide" Target="/ppt/slides/slide2.xml" Id="Rece05d28d0454e62" /><Relationship Type="http://schemas.openxmlformats.org/officeDocument/2006/relationships/slide" Target="/ppt/slides/slide3.xml" Id="R7187917247b946d8" /><Relationship Type="http://schemas.openxmlformats.org/officeDocument/2006/relationships/slide" Target="/ppt/slides/slide4.xml" Id="R09f9c48760404510" /><Relationship Type="http://schemas.openxmlformats.org/officeDocument/2006/relationships/slide" Target="/ppt/slides/slide5.xml" Id="R5858e59d03464f70" /><Relationship Type="http://schemas.openxmlformats.org/officeDocument/2006/relationships/slide" Target="/ppt/slides/slide6.xml" Id="R064e64d01e7544e2" /><Relationship Type="http://schemas.openxmlformats.org/officeDocument/2006/relationships/slide" Target="/ppt/slides/slide7.xml" Id="Rdfae8e32f0764d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577709d82e47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7cbb728a74427b" /><Relationship Type="http://schemas.openxmlformats.org/officeDocument/2006/relationships/notesMaster" Target="/ppt/notesMasters/notesMaster1.xml" Id="Rd5bad6ee169148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1170ed2c64db7" /><Relationship Type="http://schemas.openxmlformats.org/officeDocument/2006/relationships/notesMaster" Target="/ppt/notesMasters/notesMaster1.xml" Id="Rbf7689bdb94d4a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d19f953a804caa" /><Relationship Type="http://schemas.openxmlformats.org/officeDocument/2006/relationships/notesMaster" Target="/ppt/notesMasters/notesMaster1.xml" Id="R26ee8cf1e24f475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e6642d1a4c4b15" /><Relationship Type="http://schemas.openxmlformats.org/officeDocument/2006/relationships/notesMaster" Target="/ppt/notesMasters/notesMaster1.xml" Id="R74d9280b8b3542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aa3da9e8744dd1" /><Relationship Type="http://schemas.openxmlformats.org/officeDocument/2006/relationships/notesMaster" Target="/ppt/notesMasters/notesMaster1.xml" Id="R801395463ea34f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9a0ad03d854e25" /><Relationship Type="http://schemas.openxmlformats.org/officeDocument/2006/relationships/notesMaster" Target="/ppt/notesMasters/notesMaster1.xml" Id="R09e8534546144c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07fe57f7b45cc" /><Relationship Type="http://schemas.openxmlformats.org/officeDocument/2006/relationships/notesMaster" Target="/ppt/notesMasters/notesMaster1.xml" Id="Ra594e24f7c2748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environment/seed/sources/Shared/Operations/Project Reviews/weekly top jobs review - 6.29 PM copy.pptx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f75f8951bd461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8d1b72d66484bec" /><Relationship Type="http://schemas.openxmlformats.org/officeDocument/2006/relationships/slideLayout" Target="/ppt/slideLayouts/slideLayout1.xml" Id="R489195bbceb841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195bbceb841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eeb6cfba44bf3" /><Relationship Type="http://schemas.openxmlformats.org/officeDocument/2006/relationships/notesSlide" Target="/ppt/notesSlides/notesSlide1.xml" Id="Re418fa24e26b4c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088bb89e624254" /><Relationship Type="http://schemas.openxmlformats.org/officeDocument/2006/relationships/notesSlide" Target="/ppt/notesSlides/notesSlide2.xml" Id="R80cb977cbcec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5904d188104e14" /><Relationship Type="http://schemas.openxmlformats.org/officeDocument/2006/relationships/notesSlide" Target="/ppt/notesSlides/notesSlide3.xml" Id="Ra0d061dc7f25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db787fb1d478a" /><Relationship Type="http://schemas.openxmlformats.org/officeDocument/2006/relationships/notesSlide" Target="/ppt/notesSlides/notesSlide4.xml" Id="Rc74005feb7f041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bbd55ae144285" /><Relationship Type="http://schemas.openxmlformats.org/officeDocument/2006/relationships/notesSlide" Target="/ppt/notesSlides/notesSlide5.xml" Id="R308e906395d04b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c5ce6bf2a468b" /><Relationship Type="http://schemas.openxmlformats.org/officeDocument/2006/relationships/notesSlide" Target="/ppt/notesSlides/notesSlide6.xml" Id="Rb202318b98c244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b118452554471" /><Relationship Type="http://schemas.openxmlformats.org/officeDocument/2006/relationships/notesSlide" Target="/ppt/notesSlides/notesSlide7.xml" Id="Recc21e5e73334a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any">
            <a:extLst xmlns:a="http://schemas.openxmlformats.org/drawingml/2006/main">
              <a:ext uri="{FF2B5EF4-FFF2-40B4-BE49-F238E27FC236}">
                <a16:creationId xmlns:a16="http://schemas.microsoft.com/office/drawing/2014/main" id="{8990B129-3296-47B4-883D-1661CA3C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33"/>
                </a:solidFill>
              </a:defRPr>
            </a:pPr>
            <a:r>
              <a:rPr sz="1050" b="1">
                <a:solidFill>
                  <a:srgbClr val="173B33"/>
                </a:solidFill>
              </a:rPr>
              <a:t>ALDER RIDGE MECHANICAL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59C760F2-CA4D-4581-82AE-4452F620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72-92">
            <a:extLst xmlns:a="http://schemas.openxmlformats.org/drawingml/2006/main">
              <a:ext uri="{FF2B5EF4-FFF2-40B4-BE49-F238E27FC236}">
                <a16:creationId xmlns:a16="http://schemas.microsoft.com/office/drawing/2014/main" id="{5C6F1581-3AD5-48A4-B305-9057A62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032C0E8-F132-4F6A-ADEE-EAAE4A6A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33"/>
                </a:solidFill>
              </a:defRPr>
            </a:pPr>
            <a:r>
              <a:rPr sz="405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89A517C8-B3DD-4B68-B842-82D97C1C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725"/>
                </a:solidFill>
              </a:defRPr>
            </a:pPr>
            <a:r>
              <a:rPr sz="1800" b="0">
                <a:solidFill>
                  <a:srgbClr val="252725"/>
                </a:solidFill>
              </a:rPr>
              <a:t>Schedule, labor, procurement, commercial position and cash milestones</a:t>
            </a:r>
          </a:p>
        </p:txBody>
      </p:sp>
      <p:sp>
        <p:nvSpPr>
          <p:cNvPr id="6" name="rule-72-486">
            <a:extLst xmlns:a="http://schemas.openxmlformats.org/drawingml/2006/main">
              <a:ext uri="{FF2B5EF4-FFF2-40B4-BE49-F238E27FC236}">
                <a16:creationId xmlns:a16="http://schemas.microsoft.com/office/drawing/2014/main" id="{A98F115D-6160-4FD0-AFAD-A2997ED7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D220B661-9F34-4856-8AB1-CE47B04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June 29, 2026</a:t>
            </a:r>
          </a:p>
        </p:txBody>
      </p:sp>
    </p:spTree>
    <p:extLst>
      <p:ext uri="{BB962C8B-B14F-4D97-AF65-F5344CB8AC3E}">
        <p14:creationId xmlns:p14="http://schemas.microsoft.com/office/powerpoint/2010/main" val="15963287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C5873484-8DB3-48AE-9F74-C0464550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0F65D54D-52D9-481C-940D-77EC1B8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E9692168-E8FE-49B7-B5E2-AF363CCB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B8490818-8A34-4A91-8674-3B2A9064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66549634-8E27-4C13-8427-C7771BB7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0F40374D-CE2C-4942-9241-FD80EEE4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B16D2C8-F3F8-4D58-8C89-4546EA024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Portfolio heat map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0810D82F-1508-4092-86D0-323CE387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33AC36EB-EDB9-40B1-9902-B43C4A9D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Sixteen active / closeout projects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C6275316-5443-4A9D-B787-68DA4107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8C52469E-268F-4FC6-B5FC-F6096E96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5CEEAAF2-9982-4E5C-BB4B-119B734F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Schedule and access constraints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DBBEB355-8529-4C08-B801-8F264014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5159F49-B326-4317-B4A8-9F7D7ACE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5658B9C-13B3-488A-8288-5660C48B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Estimate confidence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7F0F31F6-93FE-4C59-A741-26AF95C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2AA0C3EC-DE50-4C7A-9951-BF733B4D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1F6A692B-9BF0-4E42-A7ED-38088F9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Cash and billing milestones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535CFE57-5355-46B3-8645-81DB2578B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JOBS REVIEWED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FDBC05EB-1996-48F2-80B3-9B1DE2FE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16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D7E275F9-847A-42B5-8F55-705CBDA2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46D161D-88DC-4101-AE28-315429F0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PM status is operational evidence, not posted accounting data.</a:t>
            </a:r>
          </a:p>
        </p:txBody>
      </p:sp>
    </p:spTree>
    <p:extLst>
      <p:ext uri="{BB962C8B-B14F-4D97-AF65-F5344CB8AC3E}">
        <p14:creationId xmlns:p14="http://schemas.microsoft.com/office/powerpoint/2010/main" val="15045748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094C1284-1291-4A84-AB37-9A55DEDEA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A6D5C315-3ACB-430A-883D-713B805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6FBE72AA-0CE3-4557-B228-D73B0827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2BBD6080-D7A5-4299-B3DF-485670B0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B7389620-FDB4-443A-8942-194050D6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8C9EAA9-A32A-4DF4-BEE4-2C4450B6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59EA0AD-748B-41AB-B791-B275BC45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Eastbank data-center expansion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F179784-E570-4A10-91D2-9257DFD8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CONTRACT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2F0DD8A7-AA03-49B2-A496-2CF3DA364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$11.6m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10B30894-C05E-447A-BD0A-446236B2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20FC0605-520C-4FB2-93B9-FBAC3A19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Receipt timing remains a treasury judgment supported by owner evidence.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2EADC40D-58C0-4086-BB10-566EEF86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7D60E73B-1CE9-4C20-8AB9-12772F0C4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Procurement-heavy cost profile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3CC3E25A-F8B6-415E-81E7-AE37DF4D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DC1927DE-FFC6-4E4C-AD94-37417862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0BA9E152-E3A9-44BC-A93E-AB27D2CD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Owner funding draw timing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C76972AD-E757-4164-9D09-863FAE43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03215FD4-C5B4-4F7B-82BB-AE787996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8A508938-5B6C-4050-BA36-BA4DD81E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Lien-waiver dependency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E8E63011-4969-4D3B-9DD1-DD1BAC375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D3BFE14E-84BF-46C8-8B96-4B7648B71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BA6D8563-FA5F-4603-B7F9-9BE4A393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Controls integration milestone</a:t>
            </a:r>
          </a:p>
        </p:txBody>
      </p:sp>
    </p:spTree>
    <p:extLst>
      <p:ext uri="{BB962C8B-B14F-4D97-AF65-F5344CB8AC3E}">
        <p14:creationId xmlns:p14="http://schemas.microsoft.com/office/powerpoint/2010/main" val="4635071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D0A1900-6E05-44B4-8B86-2BFDBF52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C730FE7B-E9D1-434A-AB08-E118118D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D5F53607-D771-40EF-B3EB-3049F3914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3DAED6F8-F6DB-4059-809A-3D746201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2D3E5392-BCF1-4AE9-9C07-E4520508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32BC9C42-0973-4A84-84D5-053927D5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630044F5-C8D0-4192-8668-B4DAB5AC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Cascade Health ambulatory pavilion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40FC45BE-CA21-4B58-8E4C-19857BD7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PENDING PRICE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BBCE7893-5319-4A82-9E61-2796640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$382k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9CC484D8-174E-4B56-92C3-D4F80417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4F253B0B-0287-46D9-930C-0006B8EE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204E748B-A8A1-473F-8DD5-BF88DA551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Night-shift premium exposure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62A0479B-00E7-4B9C-B99A-210608B7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EA068D3F-D162-4361-8133-5F895B950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C20D2A28-7CA4-4C8B-B0BE-0CD6278B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Pending PCO documentation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556E4EC3-99AB-475E-BB7D-132DF64C4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2D5A6559-5140-4946-B363-3C818D5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0059F9B3-C37C-4FB1-BD45-4B9816AF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Occupied-space phasing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27C6263F-17AC-482C-ABB3-04E5583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C410C428-8F8A-4F1B-8613-C40960E5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E9D796B3-DE16-4AB0-A344-EFD4E927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Billing support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2D2E997D-714B-4C98-86A8-EE74B8EAE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Probable cost is included in EAC; pending revenue is excluded.</a:t>
            </a:r>
          </a:p>
        </p:txBody>
      </p:sp>
    </p:spTree>
    <p:extLst>
      <p:ext uri="{BB962C8B-B14F-4D97-AF65-F5344CB8AC3E}">
        <p14:creationId xmlns:p14="http://schemas.microsoft.com/office/powerpoint/2010/main" val="15535771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2FC18EF-84D3-443C-B1E9-011BE47BB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07E19953-2BB6-4516-A960-A8103E53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924A1511-B0B1-48B4-BCEF-8B406ABE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ACE8BDED-F191-481A-B7DD-4B8F73E8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213DB88E-88C0-4D4B-9380-3244B2EC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96256DB-72AA-47CF-9E06-187F293B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CCE506FF-4A75-4F72-9D8D-D81BF699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Northline cold storage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DEC36D40-6010-4274-BBAB-74B5D395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F44DF633-7C11-45F8-9B2C-F932BE1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Backcharge dispute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54F1587C-7956-4D03-A947-C29338A3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BB17DAA7-B61B-4E3F-AE73-3345D69B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12347F54-099F-4E2D-9318-D327AA8DF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Subcontractor response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F394AE99-BC3D-47A8-A14F-279E2982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409803E1-193F-46DD-9C90-E55E937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2534F64D-553F-4E05-83D8-B79EA0E5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Rework productivity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9F6E9EE7-63B9-4D28-96AD-65E27191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F2FDBF60-7CFD-4DAE-A2DD-E008CB4C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85FAABE1-1B8E-43B0-8E91-08B549BF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Remaining closeout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675FFA0E-405C-476B-83E7-2BFA9355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RECOVERY CLAIM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63EC005D-D1E7-47B7-AD22-925BE0B1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$185k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8B9E160D-BE14-44FF-AA83-EE7F68BD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E7FC516C-DA12-4FC7-ACD4-148CD81D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Unaccepted recovery is not netted against forecast cost.</a:t>
            </a:r>
          </a:p>
        </p:txBody>
      </p:sp>
    </p:spTree>
    <p:extLst>
      <p:ext uri="{BB962C8B-B14F-4D97-AF65-F5344CB8AC3E}">
        <p14:creationId xmlns:p14="http://schemas.microsoft.com/office/powerpoint/2010/main" val="6585351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1B7184C-3991-4228-B4C5-664AE92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B3019953-4495-47B5-B3D7-18F85158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FD9474CB-74CA-4A9E-A112-06EBE96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99C16A6D-F538-4191-9FDB-36F3D289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CAD94321-70FD-490B-A298-4FE31625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C4FB655B-D0C4-4BD4-B467-5E3406D7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6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57EFF22-DEC2-4381-924F-5B4F369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Columbia biologics closeout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AE46D366-EBC2-4E46-8B82-8D28B6C0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OPEN AR AT RISK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4DB3F938-8578-45D8-BFE5-1683A37D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$1.2m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4319A510-F657-41E4-A795-01ABD815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B15116D0-FE4A-4367-90A4-7DFB5DEE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Closeout receipts remain outside July base cash until evidence improves.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0D011EC9-3A03-4415-ABC2-A83AE81D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2B68FD8F-EC62-4F72-880E-37AC7EE7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Validation package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18C0FD87-D1A4-4B26-91EC-4E31E2E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B166B605-EB31-49CA-BDD1-40447F18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7BA2AEDB-444E-42FC-AF14-6FA301BE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Retainage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A24D7D51-5152-460B-8AC9-3881D741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9AA954E6-A2B3-44BE-89AE-2A42469CD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A89AE2AA-C620-4D6E-B3B7-8F2A5F76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Customer dispute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56F07A8C-F3A0-4927-A185-9423B440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493A42D6-FF01-46C3-86D1-25239D6D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FD1CAD09-BC13-48C0-8164-9D4DA3B4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Warranty transition</a:t>
            </a:r>
          </a:p>
        </p:txBody>
      </p:sp>
    </p:spTree>
    <p:extLst>
      <p:ext uri="{BB962C8B-B14F-4D97-AF65-F5344CB8AC3E}">
        <p14:creationId xmlns:p14="http://schemas.microsoft.com/office/powerpoint/2010/main" val="6905837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0FCE540C-CADD-49E9-BDB4-EAE3703F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WEEKLY MAJOR JOBS REVIEW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EF8A01DC-1B04-4C58-90FD-D91C860B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PM WORKING COPY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F3E1E6DE-6503-4CB9-ADF7-A96B5459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6BEFE7D7-2A67-4291-99A2-648C51CD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5CDEC854-2362-46AF-B71A-719FE1B41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June 29,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953E147C-86A8-4D9C-BB55-4EFC1B26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7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005D077-0C92-4748-AC20-7AC996F1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Decisions and follow-up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8CEA6126-1AD5-433D-9CCE-36BCBCC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OPEN ACTIONS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6E8C18B1-B15D-4568-A75F-67578FC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12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CEAD90BA-BC8D-4DB8-8CE2-27966929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50AF6533-C215-4386-BE3D-9FFA61A7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412AE100-F350-4CFF-8EE1-C0556904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EAC owner responses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1A9D3DE6-5A6B-4A75-B2B7-DAB63E90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21EB09D6-D5AB-455C-9BFA-F8B330C5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CA0D2242-F85E-4A89-9FC0-C1E2E0AE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Commercial notices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66E3A3F5-757D-481E-AA4D-B4FE3EA7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8612644D-9FBA-4940-BD4C-4F8198CB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E052D3B2-6ACC-463C-B2CF-3FEE9E8D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Billing actions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B922DADC-6830-46A1-AB23-4C021430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655A5D40-6192-42E6-9B73-A4C6E5F1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398A45AF-F06F-41DF-94E9-512DC4C4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Collection escalations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52F6CC8A-EE1C-4C3C-87F9-899E1B7A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Finance reconciles final PM updates to system cost and billing after cutoff.</a:t>
            </a:r>
          </a:p>
        </p:txBody>
      </p:sp>
    </p:spTree>
    <p:extLst>
      <p:ext uri="{BB962C8B-B14F-4D97-AF65-F5344CB8AC3E}">
        <p14:creationId xmlns:p14="http://schemas.microsoft.com/office/powerpoint/2010/main" val="15009865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2026-08-25T18:14:54.2840000Z</dcterms:created>
  <dcterms:modified xsi:type="dcterms:W3CDTF">2026-08-25T18:14:54.2840000Z</dcterms:modified>
</coreProperties>
</file>