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8787c3af14359" /><Relationship Type="http://schemas.openxmlformats.org/officeDocument/2006/relationships/extended-properties" Target="/docProps/app.xml" Id="R1b09087ba1914db1" /><Relationship Type="http://schemas.openxmlformats.org/officeDocument/2006/relationships/officeDocument" Target="/ppt/presentation.xml" Id="Rba7afda5a29844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b2d4cbade441ad"/>
  </p:sldMasterIdLst>
  <p:notesMasterIdLst>
    <p:notesMasterId xmlns:r="http://schemas.openxmlformats.org/officeDocument/2006/relationships" r:id="Rb06bbc0e45bc44b5"/>
  </p:notesMasterIdLst>
  <p:sldIdLst>
    <p:sldId xmlns:r="http://schemas.openxmlformats.org/officeDocument/2006/relationships" id="256" r:id="Rc5ea11ee38b2423f"/>
    <p:sldId xmlns:r="http://schemas.openxmlformats.org/officeDocument/2006/relationships" id="257" r:id="R16485735a19441ff"/>
    <p:sldId xmlns:r="http://schemas.openxmlformats.org/officeDocument/2006/relationships" id="258" r:id="R5be14500c83341de"/>
    <p:sldId xmlns:r="http://schemas.openxmlformats.org/officeDocument/2006/relationships" id="259" r:id="R52dd4a6ffc8d40ec"/>
    <p:sldId xmlns:r="http://schemas.openxmlformats.org/officeDocument/2006/relationships" id="260" r:id="R24da1165469d4bff"/>
    <p:sldId xmlns:r="http://schemas.openxmlformats.org/officeDocument/2006/relationships" id="261" r:id="R5d9694e8850a4cee"/>
    <p:sldId xmlns:r="http://schemas.openxmlformats.org/officeDocument/2006/relationships" id="262" r:id="R81ed6d30e5b841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702f35edd34e70" /><Relationship Type="http://schemas.openxmlformats.org/officeDocument/2006/relationships/slideMaster" Target="/ppt/slideMasters/slideMaster1.xml" Id="R5eb2d4cbade441ad" /><Relationship Type="http://schemas.openxmlformats.org/officeDocument/2006/relationships/notesMaster" Target="/ppt/notesMasters/notesMaster1.xml" Id="Rb06bbc0e45bc44b5" /><Relationship Type="http://schemas.openxmlformats.org/officeDocument/2006/relationships/presProps" Target="/ppt/presProps.xml" Id="R50f69883c3094cf8" /><Relationship Type="http://schemas.openxmlformats.org/officeDocument/2006/relationships/tableStyles" Target="/ppt/tableStyles.xml" Id="R9f0d20e1a31c43f8" /><Relationship Type="http://schemas.openxmlformats.org/officeDocument/2006/relationships/slide" Target="/ppt/slides/slide1.xml" Id="Rc5ea11ee38b2423f" /><Relationship Type="http://schemas.openxmlformats.org/officeDocument/2006/relationships/slide" Target="/ppt/slides/slide2.xml" Id="R16485735a19441ff" /><Relationship Type="http://schemas.openxmlformats.org/officeDocument/2006/relationships/slide" Target="/ppt/slides/slide3.xml" Id="R5be14500c83341de" /><Relationship Type="http://schemas.openxmlformats.org/officeDocument/2006/relationships/slide" Target="/ppt/slides/slide4.xml" Id="R52dd4a6ffc8d40ec" /><Relationship Type="http://schemas.openxmlformats.org/officeDocument/2006/relationships/slide" Target="/ppt/slides/slide5.xml" Id="R24da1165469d4bff" /><Relationship Type="http://schemas.openxmlformats.org/officeDocument/2006/relationships/slide" Target="/ppt/slides/slide6.xml" Id="R5d9694e8850a4cee" /><Relationship Type="http://schemas.openxmlformats.org/officeDocument/2006/relationships/slide" Target="/ppt/slides/slide7.xml" Id="R81ed6d30e5b841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1c839b21e2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d05542ef248e3" /><Relationship Type="http://schemas.openxmlformats.org/officeDocument/2006/relationships/notesMaster" Target="/ppt/notesMasters/notesMaster1.xml" Id="Re0336d770ac4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a05ea4f0584073" /><Relationship Type="http://schemas.openxmlformats.org/officeDocument/2006/relationships/notesMaster" Target="/ppt/notesMasters/notesMaster1.xml" Id="Rff3eb5ad472b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859c42a324dfc" /><Relationship Type="http://schemas.openxmlformats.org/officeDocument/2006/relationships/notesMaster" Target="/ppt/notesMasters/notesMaster1.xml" Id="R074865144f8748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7bcdc7b4ca4a43" /><Relationship Type="http://schemas.openxmlformats.org/officeDocument/2006/relationships/notesMaster" Target="/ppt/notesMasters/notesMaster1.xml" Id="Rffd72debdc4f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0390d83564420" /><Relationship Type="http://schemas.openxmlformats.org/officeDocument/2006/relationships/notesMaster" Target="/ppt/notesMasters/notesMaster1.xml" Id="R04f901c29e87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b983fe3cd4c0e" /><Relationship Type="http://schemas.openxmlformats.org/officeDocument/2006/relationships/notesMaster" Target="/ppt/notesMasters/notesMaster1.xml" Id="Rd551b3ea35ba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f2e6194f354de5" /><Relationship Type="http://schemas.openxmlformats.org/officeDocument/2006/relationships/notesMaster" Target="/ppt/notesMasters/notesMaster1.xml" Id="R9d2edddcb09348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environment/seed/sources/Shared/Operations/Quarterly Reviews/Q2 ops + safety review - 6.26 draft.pptx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8a1746ec9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c5663808234cac" /><Relationship Type="http://schemas.openxmlformats.org/officeDocument/2006/relationships/slideLayout" Target="/ppt/slideLayouts/slideLayout1.xml" Id="R8234b518bd8144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4b518bd8144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2b4ae923441f" /><Relationship Type="http://schemas.openxmlformats.org/officeDocument/2006/relationships/notesSlide" Target="/ppt/notesSlides/notesSlide1.xml" Id="R8452496a76374b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42a344d4249c3" /><Relationship Type="http://schemas.openxmlformats.org/officeDocument/2006/relationships/notesSlide" Target="/ppt/notesSlides/notesSlide2.xml" Id="R5cfdfa4e723e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9599907f14dce" /><Relationship Type="http://schemas.openxmlformats.org/officeDocument/2006/relationships/notesSlide" Target="/ppt/notesSlides/notesSlide3.xml" Id="R16b576863ff3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ec84384fa4e9f" /><Relationship Type="http://schemas.openxmlformats.org/officeDocument/2006/relationships/notesSlide" Target="/ppt/notesSlides/notesSlide4.xml" Id="R8933a638c6164f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e811284a64d22" /><Relationship Type="http://schemas.openxmlformats.org/officeDocument/2006/relationships/notesSlide" Target="/ppt/notesSlides/notesSlide5.xml" Id="R377cc8a5bb684c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3f96aa0cd4959" /><Relationship Type="http://schemas.openxmlformats.org/officeDocument/2006/relationships/notesSlide" Target="/ppt/notesSlides/notesSlide6.xml" Id="R2aaa5ae7a6ef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d35ddd674a55" /><Relationship Type="http://schemas.openxmlformats.org/officeDocument/2006/relationships/notesSlide" Target="/ppt/notesSlides/notesSlide7.xml" Id="Rc28c7db641ff48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any">
            <a:extLst xmlns:a="http://schemas.openxmlformats.org/drawingml/2006/main">
              <a:ext uri="{FF2B5EF4-FFF2-40B4-BE49-F238E27FC236}">
                <a16:creationId xmlns:a16="http://schemas.microsoft.com/office/drawing/2014/main" id="{3BFFD65D-A897-4CBC-8EAC-5F0F414C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33"/>
                </a:solidFill>
              </a:defRPr>
            </a:pPr>
            <a:r>
              <a:rPr sz="1050" b="1">
                <a:solidFill>
                  <a:srgbClr val="173B33"/>
                </a:solidFill>
              </a:rPr>
              <a:t>ALDER RIDGE MECHANICAL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621BD538-5A00-45E2-8BCB-4A70979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72-92">
            <a:extLst xmlns:a="http://schemas.openxmlformats.org/drawingml/2006/main">
              <a:ext uri="{FF2B5EF4-FFF2-40B4-BE49-F238E27FC236}">
                <a16:creationId xmlns:a16="http://schemas.microsoft.com/office/drawing/2014/main" id="{B12E8A20-DC73-4C47-A4FD-B28D3FB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20C87F-5395-4F56-ABBD-E3D7AF67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33"/>
                </a:solidFill>
              </a:defRPr>
            </a:pPr>
            <a:r>
              <a:rPr sz="405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6F81BC4-C2E9-4190-AAE8-DC636EB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725"/>
                </a:solidFill>
              </a:defRPr>
            </a:pPr>
            <a:r>
              <a:rPr sz="1800" b="0">
                <a:solidFill>
                  <a:srgbClr val="252725"/>
                </a:solidFill>
              </a:rPr>
              <a:t>Execution, field productivity, quality, safety and capacity</a:t>
            </a:r>
          </a:p>
        </p:txBody>
      </p:sp>
      <p:sp>
        <p:nvSpPr>
          <p:cNvPr id="6" name="rule-72-486">
            <a:extLst xmlns:a="http://schemas.openxmlformats.org/drawingml/2006/main">
              <a:ext uri="{FF2B5EF4-FFF2-40B4-BE49-F238E27FC236}">
                <a16:creationId xmlns:a16="http://schemas.microsoft.com/office/drawing/2014/main" id="{D0775278-2C8A-4561-A59F-7C73FAC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A10F26DB-0728-4093-A75E-1386DF7C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June 26, 2026</a:t>
            </a:r>
          </a:p>
        </p:txBody>
      </p:sp>
    </p:spTree>
    <p:extLst>
      <p:ext uri="{BB962C8B-B14F-4D97-AF65-F5344CB8AC3E}">
        <p14:creationId xmlns:p14="http://schemas.microsoft.com/office/powerpoint/2010/main" val="39527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09DFC1A4-3102-4FC6-AFB6-A31282F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B78BBB83-78EE-466D-AEBE-FD5EC911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D65AD94F-0BDC-43A1-B72C-A3C0AC5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E876C986-C583-4F8D-95BC-FC11B12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0DBEA8FF-9D22-4569-AD02-E59E7E5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D41A0F-167E-40AD-990A-D1861A65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1A9CC92-00C7-4DF5-9BF7-F829CA24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Quarter scorecard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5066A352-FBA5-4A7C-B50B-BDD7A1D0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D6E9324F-DBA0-4939-856B-708745E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Recordable incidents and near misses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037229ED-A907-484F-8E47-172F8ED7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7490E438-55AC-47B9-B1B5-050EB20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ED09998A-1AE4-4746-9560-DF8CC547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Schedule performance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E83FD92D-1A59-4E01-832A-6AEB019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0A975BD-A089-4B99-80FE-A8EE49DF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892BAB46-518A-454D-AD25-52575A2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Rework and callbacks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40836794-E153-4536-8580-EE5394DD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580BA71C-1050-4D3C-B43F-A52084B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B54573DC-0006-4EB4-B70B-ACF3B1D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Field labor utilization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843F2FE-96FE-4AF2-8108-09EC183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RECORDABLES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97E5F3F-25A2-4303-A57B-6F7AA904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1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CE2592D6-C2A6-4E0A-8519-395C5DB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857BDB9C-840D-4209-AFCA-A6782BDD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Safety statistics are preliminary pending the June supervisor review.</a:t>
            </a:r>
          </a:p>
        </p:txBody>
      </p:sp>
    </p:spTree>
    <p:extLst>
      <p:ext uri="{BB962C8B-B14F-4D97-AF65-F5344CB8AC3E}">
        <p14:creationId xmlns:p14="http://schemas.microsoft.com/office/powerpoint/2010/main" val="1842671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A2AA4D54-30D9-4346-B369-BE66A3BF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26A99C3E-EB2C-4955-8881-71BCF42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27BBE6A6-6AFD-4853-AD58-DD79FC4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A6E5C4F0-B5DE-4787-91EE-5570F28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272ABBE8-475A-46BE-B697-7587726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D75AE94-1A51-418C-AB3D-87FF864B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04A251F-9EB2-4D42-B91F-C7382D68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Project execution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36CEDB0-CD0C-46D4-828E-309C169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ON-PLAN JOBS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E8A3391-6E19-4A44-8C2F-FB6CA41A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11 / 16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62CF863B-28AA-45FF-A99A-8D3B965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D2717475-7ACC-486E-A59A-774EEE4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Five projects require named recovery plans or closeout follow-up.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2AACAD19-91FE-4B38-85C9-4FBFED1A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0932F309-DD18-4A22-8571-1C57318E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Milestone adherence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8B21F48A-CC4F-464F-8298-F9E88D0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725CBC91-721F-4BEB-871C-1087178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EF7997E7-FE93-42DA-ABBE-4A0C462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Access and design constraints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946BB9F8-3456-4387-9BB7-C72DCA5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24F7352B-ECD9-4802-86C6-D02CEEA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84819563-3D43-4581-A87A-1CE55F8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Subcontractor performance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5ACE5D81-BDDB-4821-A0A7-8611FCD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656E464B-DE8B-4A5B-BFC6-09CCF78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B665BC88-306E-45AB-820B-22340E8E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Commercial notices</a:t>
            </a:r>
          </a:p>
        </p:txBody>
      </p:sp>
    </p:spTree>
    <p:extLst>
      <p:ext uri="{BB962C8B-B14F-4D97-AF65-F5344CB8AC3E}">
        <p14:creationId xmlns:p14="http://schemas.microsoft.com/office/powerpoint/2010/main" val="772142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E028FEBE-A65E-46FD-889C-0F2BF8FB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CF2ED949-C17E-4593-816A-FCDD529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FA1A27AB-0C1A-4C7E-A1E1-742A548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88AC01F2-D9D4-45F7-98F7-8F193B5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D87437E-796D-47C6-9AAC-AFCD8AD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1087F0A-779F-40BB-9C64-C29B55B8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80DB16A-2CEE-4824-B795-40B76147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Service operations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3423878E-2AB4-46E2-AD3E-E2025EC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FIRST-TIME FIX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02B2E591-0676-4326-AB5C-DE3E4BD5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95%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4DFA2384-9775-48EE-9606-A29ABCB6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40B35851-7E49-4169-A909-6D57913C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BD462633-F91F-452D-A865-A806300C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Agreement retention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C846671D-8F1D-4DE1-82F4-7654095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381070ED-C22B-4DBA-B584-0532C08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DF49B7E1-C38F-4BC1-9D59-1537FBB0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Response time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E665D5CA-E7DF-4E37-9CE0-580F0950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81447F51-059B-4592-9DF4-98BE260C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0A9671FF-586B-4409-82D1-3BCF8CD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First-time fix rate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37A440EA-8C75-407F-B65E-D6A13105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74A19C79-6FC6-4984-A622-B80F8850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FE555A8F-4562-4F6B-A4C8-93998038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Technician productivity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89F71097-2940-47E9-9972-1414F60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Callback classification remains manual for three dispatcher categories.</a:t>
            </a:r>
          </a:p>
        </p:txBody>
      </p:sp>
    </p:spTree>
    <p:extLst>
      <p:ext uri="{BB962C8B-B14F-4D97-AF65-F5344CB8AC3E}">
        <p14:creationId xmlns:p14="http://schemas.microsoft.com/office/powerpoint/2010/main" val="830526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DCC38D42-5677-4AD4-8814-7FDB403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8789FCEE-6ACE-4A5F-A87D-314A7A21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ADE8AE6C-8377-417F-A74F-0516030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CD750CB3-7BAF-462B-A5B0-555FFEB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3F52D00-24BA-4370-8323-BADE80F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662364B-AD1E-4CE5-ACB5-DB89C307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31E3450-F3B3-482D-87FA-9070881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Quality and rework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9FF65C17-A0B0-43AC-8ACC-F27944D4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064DBB23-2524-4EF2-B84F-E3D44737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Commissioning defects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FCF09D06-B803-4E28-93BD-5D5A4F82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4224DF12-4DB2-4E77-AE7D-D702C103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106A94A9-D3F1-4626-9AFE-FBAF057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Rework hours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FE5FD855-EE4E-42CE-BC4A-82369FCD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77B41C66-5406-4A74-91D1-F1C452D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4E8F9D31-BDF2-4443-9EAE-527D0E0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Root-cause ownership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BF215863-25CB-4A1E-AF64-97C5BBD7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01A0090B-4258-4825-AA69-65BEE2B0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F17DC50D-E7F1-4613-A4AF-9C2D4F2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Customer closeout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6A42E1F-8E78-439E-BA5E-4E96C23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REWORK HOURS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ED4B6EA-533A-4F9C-A75E-38A52FCA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3304.8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DF4DB802-14BE-4C7B-8DBB-144F8C1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97827BE1-1F72-4CC2-96DB-13D54AB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Northline and Columbia account for most disputed or closeout-related hours.</a:t>
            </a:r>
          </a:p>
        </p:txBody>
      </p:sp>
    </p:spTree>
    <p:extLst>
      <p:ext uri="{BB962C8B-B14F-4D97-AF65-F5344CB8AC3E}">
        <p14:creationId xmlns:p14="http://schemas.microsoft.com/office/powerpoint/2010/main" val="584432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B309D983-75F2-44AA-9544-35378BD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EBD52AB5-2BF7-4CE3-BD17-F0F26543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29CF3D00-6CBD-4441-930A-FA92351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4CB16B72-6FD3-461F-8E66-33B89CA3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9949535F-70EF-4180-A726-14F74D6C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DD46956-C23E-4575-ACC9-20186DEA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9C5D5D1-316E-46A1-9099-592CB09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Fleet, tools and capacity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AC53A2E-78C9-47A7-8252-91DAD9DB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FLEET AVAILABILITY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5FC83B1-8F04-4C7E-8FD4-8B56E8F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91%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E85DC42A-22FD-46D0-B6E8-4AD4F8C6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B0B24F9-081E-4CF2-8F4B-EAB7D8A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Replacement requests are linked to the midyear capital workbook.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1EB265C9-AAC2-48C9-AC40-1734360E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6780658D-0F87-4E30-A21B-EED1F47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Fleet downtime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E2A47EBC-651C-4D20-AE34-0E5A7091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6831014D-B0F0-418F-9BA0-574FB37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3C9FD937-6DB4-4D69-9F6F-0401AA4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Rental exposure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4FA022F7-10FE-4A04-B85E-3F7555A9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D45B4ED7-0C7D-43DD-B065-650F78B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301C50C7-DD69-490C-9B78-4F5D1EE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Fabrication throughput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FB7E1CCD-9076-49E9-B693-5A26F20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48A14253-75F7-4991-8024-FAEBA3A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D3370491-0366-47EA-ABC4-59424F44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Hiring constraints</a:t>
            </a:r>
          </a:p>
        </p:txBody>
      </p:sp>
    </p:spTree>
    <p:extLst>
      <p:ext uri="{BB962C8B-B14F-4D97-AF65-F5344CB8AC3E}">
        <p14:creationId xmlns:p14="http://schemas.microsoft.com/office/powerpoint/2010/main" val="656418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4D3D8F07-8FA5-47CE-AD21-7771DDA8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OPERATIONS &amp; SAFETY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4ECC7288-9ACC-4A6E-A1BD-716F5FE3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OPS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F2F4712C-AC1D-4680-A804-D94C28B3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F16B7EE1-9F52-4202-A1DB-47484014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49F97E56-B13C-4F50-AA9C-76CB0C1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26,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633E021-73FF-4297-ACDC-829CC9A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D0E959B-5EA0-4CE1-8ED9-D130527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Actions and owners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9473B61F-7900-4B40-A953-4CFCE45D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OPEN ACTIONS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85F6FB1E-E300-4F5D-A70D-CE1CBF8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12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E07F757E-751A-4D98-AF30-AE5888A2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C183CD9E-75B0-4ED8-BECF-5BCAEC7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45482C38-0034-4BD9-BACC-1F3FCA5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Safety follow-up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AD3242CD-BE61-4925-9058-A102EB0C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D27BDD48-C60E-4DF0-A9A9-ED031FB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A40FE7E8-4593-401E-A32E-044ED7AF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EAC refresh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97597814-6504-4FD2-9B43-ECFC3AE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71277958-06BB-41B7-B3F1-45AF835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962E26CC-E477-4CDB-AE17-CC2CF28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Callback coding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FC53B33F-8CF2-47A5-A324-9CB8702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AF1DDFBF-37F4-452E-AECA-0DC1C54B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932E3FDB-2778-45B1-A3CE-323B6EB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Equipment decision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759FD1E9-1BBF-476B-9B0D-49BA6F8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This draft predates final June close and is not a finance reporting deck.</a:t>
            </a:r>
          </a:p>
        </p:txBody>
      </p:sp>
    </p:spTree>
    <p:extLst>
      <p:ext uri="{BB962C8B-B14F-4D97-AF65-F5344CB8AC3E}">
        <p14:creationId xmlns:p14="http://schemas.microsoft.com/office/powerpoint/2010/main" val="123945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2026-08-25T18:14:54.5850000Z</dcterms:created>
  <dcterms:modified xsi:type="dcterms:W3CDTF">2026-08-25T18:14:54.5850000Z</dcterms:modified>
</coreProperties>
</file>